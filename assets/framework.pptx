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5925800" cy="8963025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E7A0"/>
    <a:srgbClr val="96DEB7"/>
    <a:srgbClr val="E0F5E8"/>
    <a:srgbClr val="E1F6E9"/>
    <a:srgbClr val="E5FAEE"/>
    <a:srgbClr val="C2E3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Output Modulation: matches task938_final_candidate.endpoint. u0 = base - source; n is channel L2 norm. Direction candidate uses source, u0, sigma, width, detached RMS and QP. beta is a learned I/P-specific tanh gate. extra_gain uses pooled source, log(detached RMS), QP and I/P. Bound log gain by ln(2)*tanh(logit), trilinearly resize, then exponentiate. Output correction is n*m*d; reconstructed latent is zq+correction. For near-zero n, implementation preserves the base update. New panel is fully editable native PowerPoint shapes/text/connectors. The original source PPTX remains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Relationship Id="rId18" Type="http://schemas.openxmlformats.org/officeDocument/2006/relationships/image" Target="../media/image18.png"/><Relationship Id="rId19" Type="http://schemas.openxmlformats.org/officeDocument/2006/relationships/image" Target="../media/image19.pn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25" Type="http://schemas.openxmlformats.org/officeDocument/2006/relationships/image" Target="../media/image25.png"/><Relationship Id="rId26" Type="http://schemas.openxmlformats.org/officeDocument/2006/relationships/image" Target="../media/image26.png"/><Relationship Id="rId27" Type="http://schemas.openxmlformats.org/officeDocument/2006/relationships/image" Target="../media/image27.png"/><Relationship Id="rId28" Type="http://schemas.openxmlformats.org/officeDocument/2006/relationships/image" Target="../media/image28.png"/><Relationship Id="rId29" Type="http://schemas.openxmlformats.org/officeDocument/2006/relationships/image" Target="../media/image29.png"/><Relationship Id="rId30" Type="http://schemas.openxmlformats.org/officeDocument/2006/relationships/image" Target="../media/image30.png"/><Relationship Id="rId31" Type="http://schemas.openxmlformats.org/officeDocument/2006/relationships/image" Target="../media/image31.png"/><Relationship Id="rId32" Type="http://schemas.openxmlformats.org/officeDocument/2006/relationships/image" Target="../media/image32.png"/><Relationship Id="rId33" Type="http://schemas.openxmlformats.org/officeDocument/2006/relationships/image" Target="../media/image33.png"/><Relationship Id="rId34" Type="http://schemas.openxmlformats.org/officeDocument/2006/relationships/slideLayout" Target="../slideLayouts/slideLayout1.xml"/><Relationship Id="rId3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52" name="Latent Compression panel-1"/>
          <p:cNvSpPr>
            <a:spLocks noGrp="1"/>
          </p:cNvSpPr>
          <p:nvPr/>
        </p:nvSpPr>
        <p:spPr>
          <a:xfrm>
            <a:off x="85725" y="95250"/>
            <a:ext cx="6629400" cy="3314700"/>
          </a:xfrm>
          <a:prstGeom prst="roundRect">
            <a:avLst>
              <a:gd name="adj" fmla="val 1437"/>
            </a:avLst>
          </a:prstGeom>
          <a:gradFill>
            <a:gsLst>
              <a:gs pos="0">
                <a:srgbClr val="FFFFFF"/>
              </a:gs>
              <a:gs pos="100000">
                <a:srgbClr val="F5FBFF"/>
              </a:gs>
            </a:gsLst>
            <a:lin ang="5400000"/>
          </a:gradFill>
          <a:ln w="14288">
            <a:solidFill>
              <a:srgbClr val="0069ED"/>
            </a:solidFill>
            <a:prstDash val="solid"/>
          </a:ln>
        </p:spPr>
      </p:sp>
      <p:sp>
        <p:nvSpPr>
          <p:cNvPr id="2" name="Generative Restoration panel-2"/>
          <p:cNvSpPr>
            <a:spLocks noGrp="1"/>
          </p:cNvSpPr>
          <p:nvPr/>
        </p:nvSpPr>
        <p:spPr>
          <a:xfrm>
            <a:off x="6771640" y="88900"/>
            <a:ext cx="9015730" cy="3321050"/>
          </a:xfrm>
          <a:prstGeom prst="roundRect">
            <a:avLst>
              <a:gd name="adj" fmla="val 1437"/>
            </a:avLst>
          </a:prstGeom>
          <a:gradFill>
            <a:gsLst>
              <a:gs pos="0">
                <a:srgbClr val="FFFFFF"/>
              </a:gs>
              <a:gs pos="100000">
                <a:srgbClr val="F5FBFF"/>
              </a:gs>
            </a:gsLst>
            <a:lin ang="5400000"/>
          </a:gradFill>
          <a:ln w="14288">
            <a:solidFill>
              <a:srgbClr val="0069ED"/>
            </a:solidFill>
            <a:prstDash val="solid"/>
          </a:ln>
        </p:spPr>
      </p:sp>
      <p:sp>
        <p:nvSpPr>
          <p:cNvPr id="3" name="Text-3"/>
          <p:cNvSpPr>
            <a:spLocks noGrp="1"/>
          </p:cNvSpPr>
          <p:nvPr/>
        </p:nvSpPr>
        <p:spPr>
          <a:xfrm>
            <a:off x="2000250" y="114300"/>
            <a:ext cx="34290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550" b="1" i="0">
                <a:solidFill>
                  <a:srgbClr val="000066"/>
                </a:solidFill>
                <a:latin typeface="Nimbus Roman"/>
                <a:ea typeface="Nimbus Roman"/>
                <a:cs typeface="Nimbus Roman"/>
              </a:defRPr>
            </a:pPr>
            <a:r>
              <a:rPr sz="2550" b="1" i="0">
                <a:solidFill>
                  <a:srgbClr val="000066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Latent Compression</a:t>
            </a:r>
            <a:endParaRPr sz="2550" b="1" i="0">
              <a:solidFill>
                <a:srgbClr val="000066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4" name="Text-4"/>
          <p:cNvSpPr>
            <a:spLocks noGrp="1"/>
          </p:cNvSpPr>
          <p:nvPr/>
        </p:nvSpPr>
        <p:spPr>
          <a:xfrm>
            <a:off x="9525000" y="114300"/>
            <a:ext cx="38862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550" b="1" i="0">
                <a:solidFill>
                  <a:srgbClr val="000066"/>
                </a:solidFill>
                <a:latin typeface="Nimbus Roman"/>
                <a:ea typeface="Nimbus Roman"/>
                <a:cs typeface="Nimbus Roman"/>
              </a:defRPr>
            </a:pPr>
            <a:r>
              <a:rPr sz="2550" b="1" i="0">
                <a:solidFill>
                  <a:srgbClr val="000066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Generative Restoration</a:t>
            </a:r>
            <a:endParaRPr sz="2550" b="1" i="0">
              <a:solidFill>
                <a:srgbClr val="000066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5" name="Line-5"/>
          <p:cNvSpPr>
            <a:spLocks noGrp="1"/>
          </p:cNvSpPr>
          <p:nvPr/>
        </p:nvSpPr>
        <p:spPr>
          <a:xfrm>
            <a:off x="190500" y="495300"/>
            <a:ext cx="6419850" cy="95"/>
          </a:xfrm>
          <a:custGeom>
            <a:avLst/>
            <a:gdLst/>
            <a:ahLst/>
            <a:cxnLst/>
            <a:pathLst>
              <a:path w="6419850" h="95">
                <a:moveTo>
                  <a:pt x="0" y="0"/>
                </a:moveTo>
                <a:lnTo>
                  <a:pt x="6419850" y="0"/>
                </a:lnTo>
              </a:path>
            </a:pathLst>
          </a:custGeom>
          <a:noFill/>
          <a:ln w="13335">
            <a:solidFill>
              <a:srgbClr val="0066FF"/>
            </a:solidFill>
            <a:prstDash val="solid"/>
          </a:ln>
        </p:spPr>
      </p:sp>
      <p:sp>
        <p:nvSpPr>
          <p:cNvPr id="6" name="Line-6"/>
          <p:cNvSpPr>
            <a:spLocks noGrp="1"/>
          </p:cNvSpPr>
          <p:nvPr/>
        </p:nvSpPr>
        <p:spPr>
          <a:xfrm>
            <a:off x="6905625" y="495300"/>
            <a:ext cx="8829675" cy="95"/>
          </a:xfrm>
          <a:custGeom>
            <a:avLst/>
            <a:gdLst/>
            <a:ahLst/>
            <a:cxnLst/>
            <a:pathLst>
              <a:path w="8829675" h="95">
                <a:moveTo>
                  <a:pt x="0" y="0"/>
                </a:moveTo>
                <a:lnTo>
                  <a:pt x="8829675" y="0"/>
                </a:lnTo>
              </a:path>
            </a:pathLst>
          </a:custGeom>
          <a:noFill/>
          <a:ln w="13335">
            <a:solidFill>
              <a:srgbClr val="0066FF"/>
            </a:solidFill>
            <a:prstDash val="solid"/>
          </a:ln>
        </p:spPr>
      </p:sp>
      <p:sp>
        <p:nvSpPr>
          <p:cNvPr id="7" name="Latent Codec-7"/>
          <p:cNvSpPr>
            <a:spLocks noGrp="1"/>
          </p:cNvSpPr>
          <p:nvPr/>
        </p:nvSpPr>
        <p:spPr>
          <a:xfrm>
            <a:off x="2390775" y="714375"/>
            <a:ext cx="4191000" cy="2305050"/>
          </a:xfrm>
          <a:prstGeom prst="roundRect">
            <a:avLst>
              <a:gd name="adj" fmla="val 1653"/>
            </a:avLst>
          </a:prstGeom>
          <a:gradFill>
            <a:gsLst>
              <a:gs pos="0">
                <a:srgbClr val="FFFFFF"/>
              </a:gs>
              <a:gs pos="100000">
                <a:srgbClr val="F2F9FE"/>
              </a:gs>
            </a:gsLst>
            <a:lin ang="5400000"/>
          </a:gradFill>
          <a:ln w="7620">
            <a:solidFill>
              <a:srgbClr val="6C9DEE"/>
            </a:solidFill>
            <a:prstDash val="dot"/>
          </a:ln>
        </p:spPr>
      </p:sp>
      <p:sp>
        <p:nvSpPr>
          <p:cNvPr id="8" name="Text-8"/>
          <p:cNvSpPr>
            <a:spLocks noGrp="1"/>
          </p:cNvSpPr>
          <p:nvPr/>
        </p:nvSpPr>
        <p:spPr>
          <a:xfrm>
            <a:off x="3752850" y="771525"/>
            <a:ext cx="15430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000066"/>
                </a:solidFill>
                <a:latin typeface="Nimbus Roman"/>
                <a:ea typeface="Nimbus Roman"/>
                <a:cs typeface="Nimbus Roman"/>
              </a:defRPr>
            </a:pPr>
            <a:r>
              <a:rPr sz="1650" b="1" i="0">
                <a:solidFill>
                  <a:srgbClr val="000066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Latent Codec</a:t>
            </a:r>
            <a:endParaRPr sz="1650" b="1" i="0">
              <a:solidFill>
                <a:srgbClr val="000066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grpSp>
        <p:nvGrpSpPr>
          <p:cNvPr id="902" name="Arrow-9-group"/>
          <p:cNvGrpSpPr/>
          <p:nvPr/>
        </p:nvGrpSpPr>
        <p:grpSpPr>
          <a:xfrm>
            <a:off x="762000" y="1754505"/>
            <a:ext cx="133351" cy="72390"/>
            <a:chOff x="762000" y="1754505"/>
            <a:chExt cx="133351" cy="72390"/>
          </a:xfrm>
        </p:grpSpPr>
        <p:sp>
          <p:nvSpPr>
            <p:cNvPr id="9" name="Arrow-9"/>
            <p:cNvSpPr>
              <a:spLocks noGrp="1"/>
            </p:cNvSpPr>
            <p:nvPr/>
          </p:nvSpPr>
          <p:spPr>
            <a:xfrm>
              <a:off x="762000" y="1790700"/>
              <a:ext cx="133350" cy="95"/>
            </a:xfrm>
            <a:custGeom>
              <a:avLst/>
              <a:gdLst/>
              <a:ahLst/>
              <a:cxnLst/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2859">
              <a:solidFill>
                <a:srgbClr val="111111"/>
              </a:solidFill>
              <a:prstDash val="solid"/>
            </a:ln>
          </p:spPr>
        </p:sp>
        <p:sp>
          <p:nvSpPr>
            <p:cNvPr id="10" name="Arrow-9-head"/>
            <p:cNvSpPr>
              <a:spLocks noGrp="1"/>
            </p:cNvSpPr>
            <p:nvPr/>
          </p:nvSpPr>
          <p:spPr>
            <a:xfrm>
              <a:off x="823913" y="1754505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grpSp>
        <p:nvGrpSpPr>
          <p:cNvPr id="903" name="Arrow-10-group"/>
          <p:cNvGrpSpPr/>
          <p:nvPr/>
        </p:nvGrpSpPr>
        <p:grpSpPr>
          <a:xfrm>
            <a:off x="1562100" y="1773555"/>
            <a:ext cx="288000" cy="72390"/>
            <a:chOff x="1562100" y="1773555"/>
            <a:chExt cx="361951" cy="72390"/>
          </a:xfrm>
        </p:grpSpPr>
        <p:sp>
          <p:nvSpPr>
            <p:cNvPr id="11" name="Arrow-10"/>
            <p:cNvSpPr>
              <a:spLocks noGrp="1"/>
            </p:cNvSpPr>
            <p:nvPr/>
          </p:nvSpPr>
          <p:spPr>
            <a:xfrm>
              <a:off x="1562100" y="1809750"/>
              <a:ext cx="361950" cy="95"/>
            </a:xfrm>
            <a:custGeom>
              <a:avLst/>
              <a:gdLst/>
              <a:ahLst/>
              <a:cxnLst/>
              <a:pathLst>
                <a:path w="361950" h="9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2859">
              <a:solidFill>
                <a:srgbClr val="111111"/>
              </a:solidFill>
              <a:prstDash val="solid"/>
            </a:ln>
          </p:spPr>
        </p:sp>
        <p:sp>
          <p:nvSpPr>
            <p:cNvPr id="12" name="Arrow-10-head"/>
            <p:cNvSpPr>
              <a:spLocks noGrp="1"/>
            </p:cNvSpPr>
            <p:nvPr/>
          </p:nvSpPr>
          <p:spPr>
            <a:xfrm>
              <a:off x="1852613" y="1773555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grpSp>
        <p:nvGrpSpPr>
          <p:cNvPr id="905" name="Arrow-13-group"/>
          <p:cNvGrpSpPr/>
          <p:nvPr/>
        </p:nvGrpSpPr>
        <p:grpSpPr>
          <a:xfrm>
            <a:off x="3486150" y="1383030"/>
            <a:ext cx="190501" cy="72390"/>
            <a:chOff x="3486150" y="1383030"/>
            <a:chExt cx="190501" cy="72390"/>
          </a:xfrm>
        </p:grpSpPr>
        <p:sp>
          <p:nvSpPr>
            <p:cNvPr id="16" name="Arrow-13"/>
            <p:cNvSpPr>
              <a:spLocks noGrp="1"/>
            </p:cNvSpPr>
            <p:nvPr/>
          </p:nvSpPr>
          <p:spPr>
            <a:xfrm>
              <a:off x="3486150" y="1419225"/>
              <a:ext cx="190500" cy="95"/>
            </a:xfrm>
            <a:custGeom>
              <a:avLst/>
              <a:gdLst/>
              <a:ahLst/>
              <a:cxnLst/>
              <a:pathLst>
                <a:path w="190500" h="9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2859">
              <a:solidFill>
                <a:srgbClr val="111111"/>
              </a:solidFill>
              <a:prstDash val="solid"/>
            </a:ln>
          </p:spPr>
        </p:sp>
        <p:sp>
          <p:nvSpPr>
            <p:cNvPr id="17" name="Arrow-13-head"/>
            <p:cNvSpPr>
              <a:spLocks noGrp="1"/>
            </p:cNvSpPr>
            <p:nvPr/>
          </p:nvSpPr>
          <p:spPr>
            <a:xfrm>
              <a:off x="3605213" y="1383030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grpSp>
        <p:nvGrpSpPr>
          <p:cNvPr id="906" name="Arrow-14-group"/>
          <p:cNvGrpSpPr/>
          <p:nvPr/>
        </p:nvGrpSpPr>
        <p:grpSpPr>
          <a:xfrm>
            <a:off x="4629150" y="1383030"/>
            <a:ext cx="180976" cy="72390"/>
            <a:chOff x="4629150" y="1383030"/>
            <a:chExt cx="180976" cy="72390"/>
          </a:xfrm>
        </p:grpSpPr>
        <p:sp>
          <p:nvSpPr>
            <p:cNvPr id="18" name="Arrow-14"/>
            <p:cNvSpPr>
              <a:spLocks noGrp="1"/>
            </p:cNvSpPr>
            <p:nvPr/>
          </p:nvSpPr>
          <p:spPr>
            <a:xfrm>
              <a:off x="4629150" y="1419225"/>
              <a:ext cx="180975" cy="95"/>
            </a:xfrm>
            <a:custGeom>
              <a:avLst/>
              <a:gdLst/>
              <a:ahLst/>
              <a:cxnLst/>
              <a:pathLst>
                <a:path w="180975" h="95">
                  <a:moveTo>
                    <a:pt x="0" y="0"/>
                  </a:moveTo>
                  <a:lnTo>
                    <a:pt x="180975" y="0"/>
                  </a:lnTo>
                </a:path>
              </a:pathLst>
            </a:custGeom>
            <a:noFill/>
            <a:ln w="12859">
              <a:solidFill>
                <a:srgbClr val="111111"/>
              </a:solidFill>
              <a:prstDash val="solid"/>
            </a:ln>
          </p:spPr>
        </p:sp>
        <p:sp>
          <p:nvSpPr>
            <p:cNvPr id="19" name="Arrow-14-head"/>
            <p:cNvSpPr>
              <a:spLocks noGrp="1"/>
            </p:cNvSpPr>
            <p:nvPr/>
          </p:nvSpPr>
          <p:spPr>
            <a:xfrm>
              <a:off x="4738688" y="1383030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grpSp>
        <p:nvGrpSpPr>
          <p:cNvPr id="907" name="Arrow-15-group"/>
          <p:cNvGrpSpPr/>
          <p:nvPr/>
        </p:nvGrpSpPr>
        <p:grpSpPr>
          <a:xfrm>
            <a:off x="5648325" y="1383030"/>
            <a:ext cx="209551" cy="72390"/>
            <a:chOff x="5648325" y="1383030"/>
            <a:chExt cx="209551" cy="72390"/>
          </a:xfrm>
        </p:grpSpPr>
        <p:sp>
          <p:nvSpPr>
            <p:cNvPr id="20" name="Arrow-15"/>
            <p:cNvSpPr>
              <a:spLocks noGrp="1"/>
            </p:cNvSpPr>
            <p:nvPr/>
          </p:nvSpPr>
          <p:spPr>
            <a:xfrm>
              <a:off x="5648325" y="1419225"/>
              <a:ext cx="209550" cy="95"/>
            </a:xfrm>
            <a:custGeom>
              <a:avLst/>
              <a:gdLst/>
              <a:ahLst/>
              <a:cxnLst/>
              <a:pathLst>
                <a:path w="209550" h="95">
                  <a:moveTo>
                    <a:pt x="0" y="0"/>
                  </a:moveTo>
                  <a:lnTo>
                    <a:pt x="209550" y="0"/>
                  </a:lnTo>
                </a:path>
              </a:pathLst>
            </a:custGeom>
            <a:noFill/>
            <a:ln w="12859">
              <a:solidFill>
                <a:srgbClr val="111111"/>
              </a:solidFill>
              <a:prstDash val="solid"/>
            </a:ln>
          </p:spPr>
        </p:sp>
        <p:sp>
          <p:nvSpPr>
            <p:cNvPr id="21" name="Arrow-15-head"/>
            <p:cNvSpPr>
              <a:spLocks noGrp="1"/>
            </p:cNvSpPr>
            <p:nvPr/>
          </p:nvSpPr>
          <p:spPr>
            <a:xfrm>
              <a:off x="5786438" y="1383030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grpSp>
        <p:nvGrpSpPr>
          <p:cNvPr id="910" name="Arrow-18-group"/>
          <p:cNvGrpSpPr/>
          <p:nvPr/>
        </p:nvGrpSpPr>
        <p:grpSpPr>
          <a:xfrm>
            <a:off x="3476625" y="2449830"/>
            <a:ext cx="190501" cy="72390"/>
            <a:chOff x="3476625" y="2449830"/>
            <a:chExt cx="190501" cy="72390"/>
          </a:xfrm>
        </p:grpSpPr>
        <p:sp>
          <p:nvSpPr>
            <p:cNvPr id="26" name="Arrow-18"/>
            <p:cNvSpPr>
              <a:spLocks noGrp="1"/>
            </p:cNvSpPr>
            <p:nvPr/>
          </p:nvSpPr>
          <p:spPr>
            <a:xfrm>
              <a:off x="3476625" y="2486025"/>
              <a:ext cx="190500" cy="95"/>
            </a:xfrm>
            <a:custGeom>
              <a:avLst/>
              <a:gdLst/>
              <a:ahLst/>
              <a:cxnLst/>
              <a:pathLst>
                <a:path w="190500" h="9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2859">
              <a:solidFill>
                <a:srgbClr val="111111"/>
              </a:solidFill>
              <a:prstDash val="solid"/>
            </a:ln>
          </p:spPr>
        </p:sp>
        <p:sp>
          <p:nvSpPr>
            <p:cNvPr id="27" name="Arrow-18-head"/>
            <p:cNvSpPr>
              <a:spLocks noGrp="1"/>
            </p:cNvSpPr>
            <p:nvPr/>
          </p:nvSpPr>
          <p:spPr>
            <a:xfrm>
              <a:off x="3595688" y="2449830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grpSp>
        <p:nvGrpSpPr>
          <p:cNvPr id="911" name="Arrow-19-group"/>
          <p:cNvGrpSpPr/>
          <p:nvPr/>
        </p:nvGrpSpPr>
        <p:grpSpPr>
          <a:xfrm>
            <a:off x="4629150" y="2449830"/>
            <a:ext cx="171451" cy="72390"/>
            <a:chOff x="4629150" y="2449830"/>
            <a:chExt cx="171451" cy="72390"/>
          </a:xfrm>
        </p:grpSpPr>
        <p:sp>
          <p:nvSpPr>
            <p:cNvPr id="28" name="Arrow-19"/>
            <p:cNvSpPr>
              <a:spLocks noGrp="1"/>
            </p:cNvSpPr>
            <p:nvPr/>
          </p:nvSpPr>
          <p:spPr>
            <a:xfrm>
              <a:off x="4629150" y="2486025"/>
              <a:ext cx="171450" cy="95"/>
            </a:xfrm>
            <a:custGeom>
              <a:avLst/>
              <a:gdLst/>
              <a:ahLst/>
              <a:cxnLst/>
              <a:pathLst>
                <a:path w="171450" h="9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12859">
              <a:solidFill>
                <a:srgbClr val="111111"/>
              </a:solidFill>
              <a:prstDash val="solid"/>
            </a:ln>
          </p:spPr>
        </p:sp>
        <p:sp>
          <p:nvSpPr>
            <p:cNvPr id="29" name="Arrow-19-head"/>
            <p:cNvSpPr>
              <a:spLocks noGrp="1"/>
            </p:cNvSpPr>
            <p:nvPr/>
          </p:nvSpPr>
          <p:spPr>
            <a:xfrm>
              <a:off x="4729163" y="2449830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grpSp>
        <p:nvGrpSpPr>
          <p:cNvPr id="912" name="Arrow-20-group"/>
          <p:cNvGrpSpPr/>
          <p:nvPr/>
        </p:nvGrpSpPr>
        <p:grpSpPr>
          <a:xfrm>
            <a:off x="5648325" y="2449830"/>
            <a:ext cx="285751" cy="72390"/>
            <a:chOff x="5648325" y="2449830"/>
            <a:chExt cx="285751" cy="72390"/>
          </a:xfrm>
        </p:grpSpPr>
        <p:sp>
          <p:nvSpPr>
            <p:cNvPr id="30" name="Arrow-20"/>
            <p:cNvSpPr>
              <a:spLocks noGrp="1"/>
            </p:cNvSpPr>
            <p:nvPr/>
          </p:nvSpPr>
          <p:spPr>
            <a:xfrm>
              <a:off x="5648325" y="2486025"/>
              <a:ext cx="285750" cy="95"/>
            </a:xfrm>
            <a:custGeom>
              <a:avLst/>
              <a:gdLst/>
              <a:ahLst/>
              <a:cxnLst/>
              <a:pathLst>
                <a:path w="285750" h="9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2859">
              <a:solidFill>
                <a:srgbClr val="111111"/>
              </a:solidFill>
              <a:prstDash val="solid"/>
            </a:ln>
          </p:spPr>
        </p:sp>
        <p:sp>
          <p:nvSpPr>
            <p:cNvPr id="31" name="Arrow-20-head"/>
            <p:cNvSpPr>
              <a:spLocks noGrp="1"/>
            </p:cNvSpPr>
            <p:nvPr/>
          </p:nvSpPr>
          <p:spPr>
            <a:xfrm>
              <a:off x="5862638" y="2449830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grpSp>
        <p:nvGrpSpPr>
          <p:cNvPr id="913" name="Arrow-21-group"/>
          <p:cNvGrpSpPr/>
          <p:nvPr/>
        </p:nvGrpSpPr>
        <p:grpSpPr>
          <a:xfrm>
            <a:off x="6362700" y="2449830"/>
            <a:ext cx="590551" cy="72390"/>
            <a:chOff x="6362700" y="2449830"/>
            <a:chExt cx="590551" cy="72390"/>
          </a:xfrm>
        </p:grpSpPr>
        <p:sp>
          <p:nvSpPr>
            <p:cNvPr id="32" name="Arrow-21"/>
            <p:cNvSpPr>
              <a:spLocks noGrp="1"/>
            </p:cNvSpPr>
            <p:nvPr/>
          </p:nvSpPr>
          <p:spPr>
            <a:xfrm>
              <a:off x="6362700" y="2486025"/>
              <a:ext cx="590550" cy="95"/>
            </a:xfrm>
            <a:custGeom>
              <a:avLst/>
              <a:gdLst/>
              <a:ahLst/>
              <a:cxnLst/>
              <a:pathLst>
                <a:path w="590550" h="95">
                  <a:moveTo>
                    <a:pt x="0" y="0"/>
                  </a:moveTo>
                  <a:lnTo>
                    <a:pt x="590550" y="0"/>
                  </a:lnTo>
                </a:path>
              </a:pathLst>
            </a:custGeom>
            <a:noFill/>
            <a:ln w="12859">
              <a:solidFill>
                <a:srgbClr val="111111"/>
              </a:solidFill>
              <a:prstDash val="solid"/>
            </a:ln>
          </p:spPr>
        </p:sp>
        <p:sp>
          <p:nvSpPr>
            <p:cNvPr id="33" name="Arrow-21-head"/>
            <p:cNvSpPr>
              <a:spLocks noGrp="1"/>
            </p:cNvSpPr>
            <p:nvPr/>
          </p:nvSpPr>
          <p:spPr>
            <a:xfrm>
              <a:off x="6881813" y="2449830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sp>
        <p:nvSpPr>
          <p:cNvPr id="34" name="Video VAE Encoder"/>
          <p:cNvSpPr>
            <a:spLocks noGrp="1"/>
          </p:cNvSpPr>
          <p:nvPr/>
        </p:nvSpPr>
        <p:spPr>
          <a:xfrm>
            <a:off x="895350" y="1038225"/>
            <a:ext cx="666750" cy="1495425"/>
          </a:xfrm>
          <a:custGeom>
            <a:avLst/>
            <a:gdLst/>
            <a:ahLst/>
            <a:cxnLst/>
            <a:pathLst>
              <a:path w="666750" h="1495425">
                <a:moveTo>
                  <a:pt x="0" y="0"/>
                </a:moveTo>
                <a:lnTo>
                  <a:pt x="666750" y="285750"/>
                </a:lnTo>
                <a:lnTo>
                  <a:pt x="666750" y="1238250"/>
                </a:lnTo>
                <a:lnTo>
                  <a:pt x="0" y="1495425"/>
                </a:lnTo>
                <a:close/>
              </a:path>
            </a:pathLst>
          </a:custGeom>
          <a:gradFill>
            <a:gsLst>
              <a:gs pos="0">
                <a:srgbClr val="B8DEFE"/>
              </a:gs>
              <a:gs pos="100000">
                <a:srgbClr val="EBF8FF"/>
              </a:gs>
            </a:gsLst>
            <a:lin ang="5400000"/>
          </a:gradFill>
          <a:ln w="11430">
            <a:solidFill>
              <a:srgbClr val="0077FF"/>
            </a:solidFill>
            <a:prstDash val="solid"/>
          </a:ln>
        </p:spPr>
      </p:sp>
      <p:sp>
        <p:nvSpPr>
          <p:cNvPr id="35" name="Text-22"/>
          <p:cNvSpPr>
            <a:spLocks noGrp="1"/>
          </p:cNvSpPr>
          <p:nvPr/>
        </p:nvSpPr>
        <p:spPr>
          <a:xfrm>
            <a:off x="923925" y="1381125"/>
            <a:ext cx="609600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0" i="0">
                <a:solidFill>
                  <a:srgbClr val="000000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Video</a:t>
            </a:r>
            <a:endParaRPr sz="1350" b="0" i="0">
              <a:solidFill>
                <a:srgbClr val="000000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  <a:p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0" i="0">
                <a:solidFill>
                  <a:srgbClr val="000000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VAE</a:t>
            </a:r>
            <a:endParaRPr sz="1350" b="0" i="0">
              <a:solidFill>
                <a:srgbClr val="000000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  <a:p>
            <a:pPr algn="ctr">
              <a:lnSpc>
                <a:spcPct val="100000"/>
              </a:lnSpc>
              <a:buNone/>
              <a:defRPr sz="1350" b="0" i="0">
                <a:solidFill>
                  <a:srgbClr val="000000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0" i="0">
                <a:solidFill>
                  <a:srgbClr val="000000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Encoder</a:t>
            </a:r>
            <a:endParaRPr sz="1350" b="0" i="0">
              <a:solidFill>
                <a:srgbClr val="000000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pic>
        <p:nvPicPr>
          <p:cNvPr id="487" name="图片 4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2066925"/>
            <a:ext cx="276225" cy="276225"/>
          </a:xfrm>
          <a:prstGeom prst="rect">
            <a:avLst/>
          </a:prstGeom>
        </p:spPr>
      </p:pic>
      <p:pic>
        <p:nvPicPr>
          <p:cNvPr id="488" name="图片 48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847725"/>
            <a:ext cx="581025" cy="1838325"/>
          </a:xfrm>
          <a:prstGeom prst="rect">
            <a:avLst/>
          </a:prstGeom>
        </p:spPr>
      </p:pic>
      <p:sp>
        <p:nvSpPr>
          <p:cNvPr id="38" name="Formula-23-0"/>
          <p:cNvSpPr>
            <a:spLocks noGrp="1"/>
          </p:cNvSpPr>
          <p:nvPr/>
        </p:nvSpPr>
        <p:spPr>
          <a:xfrm>
            <a:off x="494189" y="581025"/>
            <a:ext cx="115253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875" b="0" i="1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875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x</a:t>
            </a:r>
            <a:endParaRPr sz="1875" b="0" i="1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39" name="Text-24"/>
          <p:cNvSpPr>
            <a:spLocks noGrp="1"/>
          </p:cNvSpPr>
          <p:nvPr/>
        </p:nvSpPr>
        <p:spPr>
          <a:xfrm>
            <a:off x="171450" y="2695575"/>
            <a:ext cx="98107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50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Input video</a:t>
            </a:r>
            <a:endParaRPr sz="1500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40" name="Formula-25-0"/>
          <p:cNvSpPr>
            <a:spLocks noGrp="1"/>
          </p:cNvSpPr>
          <p:nvPr/>
        </p:nvSpPr>
        <p:spPr>
          <a:xfrm>
            <a:off x="208040" y="2981325"/>
            <a:ext cx="965044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575" b="0" i="1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575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(T, H, W, 3)</a:t>
            </a:r>
            <a:endParaRPr sz="1575" b="0" i="1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pic>
        <p:nvPicPr>
          <p:cNvPr id="493" name="图片 49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900" y="1485900"/>
            <a:ext cx="409575" cy="581025"/>
          </a:xfrm>
          <a:prstGeom prst="rect">
            <a:avLst/>
          </a:prstGeom>
        </p:spPr>
      </p:pic>
      <p:sp>
        <p:nvSpPr>
          <p:cNvPr id="43" name="Formula-27-0"/>
          <p:cNvSpPr>
            <a:spLocks noGrp="1"/>
          </p:cNvSpPr>
          <p:nvPr/>
        </p:nvSpPr>
        <p:spPr>
          <a:xfrm>
            <a:off x="2031987" y="2009775"/>
            <a:ext cx="984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800" b="0" i="1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80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z</a:t>
            </a:r>
            <a:endParaRPr sz="1800" b="0" i="1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44" name="Formula-28-0"/>
          <p:cNvSpPr>
            <a:spLocks noGrp="1"/>
          </p:cNvSpPr>
          <p:nvPr/>
        </p:nvSpPr>
        <p:spPr>
          <a:xfrm>
            <a:off x="1583542" y="2238375"/>
            <a:ext cx="93184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575" b="0" i="1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575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(t, h, w, 48)</a:t>
            </a:r>
            <a:endParaRPr sz="1575" b="0" i="1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45" name="Analysis Transform-29"/>
          <p:cNvSpPr>
            <a:spLocks noGrp="1"/>
          </p:cNvSpPr>
          <p:nvPr/>
        </p:nvSpPr>
        <p:spPr>
          <a:xfrm>
            <a:off x="2628900" y="1143000"/>
            <a:ext cx="857250" cy="533400"/>
          </a:xfrm>
          <a:prstGeom prst="roundRect">
            <a:avLst>
              <a:gd name="adj" fmla="val 5357"/>
            </a:avLst>
          </a:prstGeom>
          <a:gradFill>
            <a:gsLst>
              <a:gs pos="0">
                <a:srgbClr val="FFFFFF"/>
              </a:gs>
              <a:gs pos="100000">
                <a:srgbClr val="F2F2F2"/>
              </a:gs>
            </a:gsLst>
            <a:lin ang="5400000"/>
          </a:gradFill>
          <a:ln w="9525">
            <a:solidFill>
              <a:srgbClr val="ADADAD"/>
            </a:solidFill>
            <a:prstDash val="solid"/>
          </a:ln>
        </p:spPr>
      </p:sp>
      <p:sp>
        <p:nvSpPr>
          <p:cNvPr id="46" name="Text-30"/>
          <p:cNvSpPr>
            <a:spLocks noGrp="1"/>
          </p:cNvSpPr>
          <p:nvPr/>
        </p:nvSpPr>
        <p:spPr>
          <a:xfrm>
            <a:off x="2667000" y="1209675"/>
            <a:ext cx="7810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Analysis</a:t>
            </a:r>
            <a:endParaRPr sz="1350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  <a:p>
            <a:pPr algn="ctr">
              <a:lnSpc>
                <a:spcPct val="100000"/>
              </a:lnSpc>
              <a:buNone/>
              <a:defRPr sz="1350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Transform</a:t>
            </a:r>
            <a:endParaRPr sz="1350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47" name="Quantization-31"/>
          <p:cNvSpPr>
            <a:spLocks noGrp="1"/>
          </p:cNvSpPr>
          <p:nvPr/>
        </p:nvSpPr>
        <p:spPr>
          <a:xfrm>
            <a:off x="3676650" y="1143000"/>
            <a:ext cx="952500" cy="533400"/>
          </a:xfrm>
          <a:prstGeom prst="roundRect">
            <a:avLst>
              <a:gd name="adj" fmla="val 5357"/>
            </a:avLst>
          </a:prstGeom>
          <a:gradFill>
            <a:gsLst>
              <a:gs pos="0">
                <a:srgbClr val="FFFFFF"/>
              </a:gs>
              <a:gs pos="100000">
                <a:srgbClr val="F2F2F2"/>
              </a:gs>
            </a:gsLst>
            <a:lin ang="5400000"/>
          </a:gradFill>
          <a:ln w="9525">
            <a:solidFill>
              <a:srgbClr val="ADADAD"/>
            </a:solidFill>
            <a:prstDash val="solid"/>
          </a:ln>
        </p:spPr>
      </p:sp>
      <p:sp>
        <p:nvSpPr>
          <p:cNvPr id="48" name="Text-32"/>
          <p:cNvSpPr>
            <a:spLocks noGrp="1"/>
          </p:cNvSpPr>
          <p:nvPr/>
        </p:nvSpPr>
        <p:spPr>
          <a:xfrm>
            <a:off x="3705225" y="1285875"/>
            <a:ext cx="8953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Quantization</a:t>
            </a:r>
            <a:endParaRPr sz="1350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49" name="Entropy Coding-33"/>
          <p:cNvSpPr>
            <a:spLocks noGrp="1"/>
          </p:cNvSpPr>
          <p:nvPr/>
        </p:nvSpPr>
        <p:spPr>
          <a:xfrm>
            <a:off x="4810125" y="1143000"/>
            <a:ext cx="838200" cy="533400"/>
          </a:xfrm>
          <a:prstGeom prst="roundRect">
            <a:avLst>
              <a:gd name="adj" fmla="val 5357"/>
            </a:avLst>
          </a:prstGeom>
          <a:gradFill>
            <a:gsLst>
              <a:gs pos="0">
                <a:srgbClr val="FFFFFF"/>
              </a:gs>
              <a:gs pos="100000">
                <a:srgbClr val="F2F2F2"/>
              </a:gs>
            </a:gsLst>
            <a:lin ang="5400000"/>
          </a:gradFill>
          <a:ln w="9525">
            <a:solidFill>
              <a:srgbClr val="ADADAD"/>
            </a:solidFill>
            <a:prstDash val="solid"/>
          </a:ln>
        </p:spPr>
      </p:sp>
      <p:sp>
        <p:nvSpPr>
          <p:cNvPr id="50" name="Text-34"/>
          <p:cNvSpPr>
            <a:spLocks noGrp="1"/>
          </p:cNvSpPr>
          <p:nvPr/>
        </p:nvSpPr>
        <p:spPr>
          <a:xfrm>
            <a:off x="4848225" y="1209675"/>
            <a:ext cx="7620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Entropy</a:t>
            </a:r>
            <a:endParaRPr sz="1350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  <a:p>
            <a:pPr algn="ctr">
              <a:lnSpc>
                <a:spcPct val="100000"/>
              </a:lnSpc>
              <a:buNone/>
              <a:defRPr sz="1350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Coding</a:t>
            </a:r>
            <a:endParaRPr sz="1350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pic>
        <p:nvPicPr>
          <p:cNvPr id="502" name="图片 50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875" y="1209675"/>
            <a:ext cx="542925" cy="333375"/>
          </a:xfrm>
          <a:prstGeom prst="rect">
            <a:avLst/>
          </a:prstGeom>
        </p:spPr>
      </p:pic>
      <p:sp>
        <p:nvSpPr>
          <p:cNvPr id="52" name="Text-35"/>
          <p:cNvSpPr>
            <a:spLocks noGrp="1"/>
          </p:cNvSpPr>
          <p:nvPr/>
        </p:nvSpPr>
        <p:spPr>
          <a:xfrm>
            <a:off x="5734050" y="1552575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Bitstream</a:t>
            </a:r>
            <a:endParaRPr sz="1350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53" name="Entropy Decoding-36"/>
          <p:cNvSpPr>
            <a:spLocks noGrp="1"/>
          </p:cNvSpPr>
          <p:nvPr/>
        </p:nvSpPr>
        <p:spPr>
          <a:xfrm>
            <a:off x="2628900" y="2219325"/>
            <a:ext cx="847725" cy="523875"/>
          </a:xfrm>
          <a:prstGeom prst="roundRect">
            <a:avLst>
              <a:gd name="adj" fmla="val 5455"/>
            </a:avLst>
          </a:prstGeom>
          <a:gradFill>
            <a:gsLst>
              <a:gs pos="0">
                <a:srgbClr val="FFFFFF"/>
              </a:gs>
              <a:gs pos="100000">
                <a:srgbClr val="F2F2F2"/>
              </a:gs>
            </a:gsLst>
            <a:lin ang="5400000"/>
          </a:gradFill>
          <a:ln w="9525">
            <a:solidFill>
              <a:srgbClr val="ADADAD"/>
            </a:solidFill>
            <a:prstDash val="solid"/>
          </a:ln>
        </p:spPr>
      </p:sp>
      <p:sp>
        <p:nvSpPr>
          <p:cNvPr id="54" name="Text-37"/>
          <p:cNvSpPr>
            <a:spLocks noGrp="1"/>
          </p:cNvSpPr>
          <p:nvPr/>
        </p:nvSpPr>
        <p:spPr>
          <a:xfrm>
            <a:off x="2667000" y="2286000"/>
            <a:ext cx="7715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Entropy</a:t>
            </a:r>
            <a:endParaRPr sz="1350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  <a:p>
            <a:pPr algn="ctr">
              <a:lnSpc>
                <a:spcPct val="100000"/>
              </a:lnSpc>
              <a:buNone/>
              <a:defRPr sz="1350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Decoding</a:t>
            </a:r>
            <a:endParaRPr sz="1350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55" name="Dequantization-38"/>
          <p:cNvSpPr>
            <a:spLocks noGrp="1"/>
          </p:cNvSpPr>
          <p:nvPr/>
        </p:nvSpPr>
        <p:spPr>
          <a:xfrm>
            <a:off x="3667125" y="2219325"/>
            <a:ext cx="962025" cy="523875"/>
          </a:xfrm>
          <a:prstGeom prst="roundRect">
            <a:avLst>
              <a:gd name="adj" fmla="val 5455"/>
            </a:avLst>
          </a:prstGeom>
          <a:gradFill>
            <a:gsLst>
              <a:gs pos="0">
                <a:srgbClr val="FFFFFF"/>
              </a:gs>
              <a:gs pos="100000">
                <a:srgbClr val="F2F2F2"/>
              </a:gs>
            </a:gsLst>
            <a:lin ang="5400000"/>
          </a:gradFill>
          <a:ln w="9525">
            <a:solidFill>
              <a:srgbClr val="ADADAD"/>
            </a:solidFill>
            <a:prstDash val="solid"/>
          </a:ln>
        </p:spPr>
      </p:sp>
      <p:sp>
        <p:nvSpPr>
          <p:cNvPr id="56" name="Text-39"/>
          <p:cNvSpPr>
            <a:spLocks noGrp="1"/>
          </p:cNvSpPr>
          <p:nvPr/>
        </p:nvSpPr>
        <p:spPr>
          <a:xfrm>
            <a:off x="3686175" y="2362200"/>
            <a:ext cx="9334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85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185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Dequantization</a:t>
            </a:r>
            <a:endParaRPr sz="1185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57" name="Synthesis Transform-40"/>
          <p:cNvSpPr>
            <a:spLocks noGrp="1"/>
          </p:cNvSpPr>
          <p:nvPr/>
        </p:nvSpPr>
        <p:spPr>
          <a:xfrm>
            <a:off x="4800600" y="2219325"/>
            <a:ext cx="847725" cy="523875"/>
          </a:xfrm>
          <a:prstGeom prst="roundRect">
            <a:avLst>
              <a:gd name="adj" fmla="val 5455"/>
            </a:avLst>
          </a:prstGeom>
          <a:gradFill>
            <a:gsLst>
              <a:gs pos="0">
                <a:srgbClr val="FFFFFF"/>
              </a:gs>
              <a:gs pos="100000">
                <a:srgbClr val="F2F2F2"/>
              </a:gs>
            </a:gsLst>
            <a:lin ang="5400000"/>
          </a:gradFill>
          <a:ln w="9525">
            <a:solidFill>
              <a:srgbClr val="ADADAD"/>
            </a:solidFill>
            <a:prstDash val="solid"/>
          </a:ln>
        </p:spPr>
      </p:sp>
      <p:sp>
        <p:nvSpPr>
          <p:cNvPr id="58" name="Text-41"/>
          <p:cNvSpPr>
            <a:spLocks noGrp="1"/>
          </p:cNvSpPr>
          <p:nvPr/>
        </p:nvSpPr>
        <p:spPr>
          <a:xfrm>
            <a:off x="4838700" y="2286000"/>
            <a:ext cx="7715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Synthesis</a:t>
            </a:r>
            <a:endParaRPr sz="1350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  <a:p>
            <a:pPr algn="ctr">
              <a:lnSpc>
                <a:spcPct val="100000"/>
              </a:lnSpc>
              <a:buNone/>
              <a:defRPr sz="1350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Transform</a:t>
            </a:r>
            <a:endParaRPr sz="1350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pic>
        <p:nvPicPr>
          <p:cNvPr id="510" name="图片 50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4550" y="2190750"/>
            <a:ext cx="457200" cy="561975"/>
          </a:xfrm>
          <a:prstGeom prst="rect">
            <a:avLst/>
          </a:prstGeom>
        </p:spPr>
      </p:pic>
      <p:grpSp>
        <p:nvGrpSpPr>
          <p:cNvPr id="914" name="Formula-42"/>
          <p:cNvGrpSpPr/>
          <p:nvPr/>
        </p:nvGrpSpPr>
        <p:grpSpPr>
          <a:xfrm>
            <a:off x="6077064" y="2714625"/>
            <a:ext cx="180747" cy="331089"/>
            <a:chOff x="6077064" y="2714625"/>
            <a:chExt cx="180747" cy="331089"/>
          </a:xfrm>
        </p:grpSpPr>
        <p:sp>
          <p:nvSpPr>
            <p:cNvPr id="60" name="Formula-42-0"/>
            <p:cNvSpPr>
              <a:spLocks noGrp="1"/>
            </p:cNvSpPr>
            <p:nvPr/>
          </p:nvSpPr>
          <p:spPr>
            <a:xfrm>
              <a:off x="6077064" y="2714625"/>
              <a:ext cx="98450" cy="276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80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80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z</a:t>
              </a:r>
              <a:endParaRPr sz="180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61" name="Formula-42-1"/>
            <p:cNvSpPr>
              <a:spLocks noGrp="1"/>
            </p:cNvSpPr>
            <p:nvPr/>
          </p:nvSpPr>
          <p:spPr>
            <a:xfrm>
              <a:off x="6165990" y="2769489"/>
              <a:ext cx="91821" cy="276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295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295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q</a:t>
              </a:r>
              <a:endParaRPr sz="1295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</p:grpSp>
      <p:grpSp>
        <p:nvGrpSpPr>
          <p:cNvPr id="915" name="Arrow-43-group"/>
          <p:cNvGrpSpPr/>
          <p:nvPr/>
        </p:nvGrpSpPr>
        <p:grpSpPr>
          <a:xfrm>
            <a:off x="7077075" y="1268730"/>
            <a:ext cx="171451" cy="72390"/>
            <a:chOff x="7077075" y="1268730"/>
            <a:chExt cx="171451" cy="72390"/>
          </a:xfrm>
        </p:grpSpPr>
        <p:sp>
          <p:nvSpPr>
            <p:cNvPr id="62" name="Arrow-43"/>
            <p:cNvSpPr>
              <a:spLocks noGrp="1"/>
            </p:cNvSpPr>
            <p:nvPr/>
          </p:nvSpPr>
          <p:spPr>
            <a:xfrm>
              <a:off x="7077075" y="1304925"/>
              <a:ext cx="171450" cy="95"/>
            </a:xfrm>
            <a:custGeom>
              <a:avLst/>
              <a:gdLst/>
              <a:ahLst/>
              <a:cxnLst/>
              <a:pathLst>
                <a:path w="171450" h="9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12859">
              <a:solidFill>
                <a:srgbClr val="111111"/>
              </a:solidFill>
              <a:prstDash val="solid"/>
            </a:ln>
          </p:spPr>
        </p:sp>
        <p:sp>
          <p:nvSpPr>
            <p:cNvPr id="63" name="Arrow-43-head"/>
            <p:cNvSpPr>
              <a:spLocks noGrp="1"/>
            </p:cNvSpPr>
            <p:nvPr/>
          </p:nvSpPr>
          <p:spPr>
            <a:xfrm>
              <a:off x="7177088" y="1268730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grpSp>
        <p:nvGrpSpPr>
          <p:cNvPr id="916" name="Arrow-44-group"/>
          <p:cNvGrpSpPr/>
          <p:nvPr/>
        </p:nvGrpSpPr>
        <p:grpSpPr>
          <a:xfrm>
            <a:off x="8096250" y="1306830"/>
            <a:ext cx="419101" cy="72390"/>
            <a:chOff x="8096250" y="1306830"/>
            <a:chExt cx="419101" cy="72390"/>
          </a:xfrm>
        </p:grpSpPr>
        <p:sp>
          <p:nvSpPr>
            <p:cNvPr id="64" name="Arrow-44"/>
            <p:cNvSpPr>
              <a:spLocks noGrp="1"/>
            </p:cNvSpPr>
            <p:nvPr/>
          </p:nvSpPr>
          <p:spPr>
            <a:xfrm>
              <a:off x="8096250" y="1343025"/>
              <a:ext cx="419100" cy="95"/>
            </a:xfrm>
            <a:custGeom>
              <a:avLst/>
              <a:gdLst/>
              <a:ahLst/>
              <a:cxnLst/>
              <a:pathLst>
                <a:path w="419100" h="9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2859">
              <a:solidFill>
                <a:srgbClr val="111111"/>
              </a:solidFill>
              <a:prstDash val="solid"/>
            </a:ln>
          </p:spPr>
        </p:sp>
        <p:sp>
          <p:nvSpPr>
            <p:cNvPr id="65" name="Arrow-44-head"/>
            <p:cNvSpPr>
              <a:spLocks noGrp="1"/>
            </p:cNvSpPr>
            <p:nvPr/>
          </p:nvSpPr>
          <p:spPr>
            <a:xfrm>
              <a:off x="8443913" y="1306830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grpSp>
        <p:nvGrpSpPr>
          <p:cNvPr id="917" name="Arrow-45-group"/>
          <p:cNvGrpSpPr/>
          <p:nvPr/>
        </p:nvGrpSpPr>
        <p:grpSpPr>
          <a:xfrm>
            <a:off x="8248650" y="1878330"/>
            <a:ext cx="266701" cy="72390"/>
            <a:chOff x="8248650" y="1878330"/>
            <a:chExt cx="266701" cy="72390"/>
          </a:xfrm>
        </p:grpSpPr>
        <p:sp>
          <p:nvSpPr>
            <p:cNvPr id="66" name="Arrow-45"/>
            <p:cNvSpPr>
              <a:spLocks noGrp="1"/>
            </p:cNvSpPr>
            <p:nvPr/>
          </p:nvSpPr>
          <p:spPr>
            <a:xfrm>
              <a:off x="8248650" y="1914525"/>
              <a:ext cx="266700" cy="95"/>
            </a:xfrm>
            <a:custGeom>
              <a:avLst/>
              <a:gdLst/>
              <a:ahLst/>
              <a:cxnLst/>
              <a:pathLst>
                <a:path w="266700" h="9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2859">
              <a:solidFill>
                <a:srgbClr val="111111"/>
              </a:solidFill>
              <a:prstDash val="dash"/>
            </a:ln>
          </p:spPr>
        </p:sp>
        <p:sp>
          <p:nvSpPr>
            <p:cNvPr id="67" name="Arrow-45-head"/>
            <p:cNvSpPr>
              <a:spLocks noGrp="1"/>
            </p:cNvSpPr>
            <p:nvPr/>
          </p:nvSpPr>
          <p:spPr>
            <a:xfrm>
              <a:off x="8443913" y="1878330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grpSp>
        <p:nvGrpSpPr>
          <p:cNvPr id="918" name="Arrow-46-group"/>
          <p:cNvGrpSpPr/>
          <p:nvPr/>
        </p:nvGrpSpPr>
        <p:grpSpPr>
          <a:xfrm>
            <a:off x="7381875" y="2354580"/>
            <a:ext cx="1133476" cy="72390"/>
            <a:chOff x="7381875" y="2354580"/>
            <a:chExt cx="1133476" cy="72390"/>
          </a:xfrm>
        </p:grpSpPr>
        <p:sp>
          <p:nvSpPr>
            <p:cNvPr id="68" name="Arrow-46"/>
            <p:cNvSpPr>
              <a:spLocks noGrp="1"/>
            </p:cNvSpPr>
            <p:nvPr/>
          </p:nvSpPr>
          <p:spPr>
            <a:xfrm>
              <a:off x="7381875" y="2390775"/>
              <a:ext cx="1133475" cy="95"/>
            </a:xfrm>
            <a:custGeom>
              <a:avLst/>
              <a:gdLst/>
              <a:ahLst/>
              <a:cxnLst/>
              <a:pathLst>
                <a:path w="1133475" h="95">
                  <a:moveTo>
                    <a:pt x="0" y="0"/>
                  </a:moveTo>
                  <a:lnTo>
                    <a:pt x="1133475" y="0"/>
                  </a:lnTo>
                </a:path>
              </a:pathLst>
            </a:custGeom>
            <a:noFill/>
            <a:ln w="12859">
              <a:solidFill>
                <a:srgbClr val="111111"/>
              </a:solidFill>
              <a:prstDash val="solid"/>
            </a:ln>
          </p:spPr>
        </p:sp>
        <p:sp>
          <p:nvSpPr>
            <p:cNvPr id="69" name="Arrow-46-head"/>
            <p:cNvSpPr>
              <a:spLocks noGrp="1"/>
            </p:cNvSpPr>
            <p:nvPr/>
          </p:nvSpPr>
          <p:spPr>
            <a:xfrm>
              <a:off x="8443913" y="2354580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grpSp>
        <p:nvGrpSpPr>
          <p:cNvPr id="919" name="Arrow-47-group"/>
          <p:cNvGrpSpPr/>
          <p:nvPr/>
        </p:nvGrpSpPr>
        <p:grpSpPr>
          <a:xfrm>
            <a:off x="7115175" y="1952625"/>
            <a:ext cx="6684645" cy="1190625"/>
            <a:chOff x="7115175" y="1952625"/>
            <a:chExt cx="6684645" cy="1190625"/>
          </a:xfrm>
        </p:grpSpPr>
        <p:sp>
          <p:nvSpPr>
            <p:cNvPr id="70" name="Arrow-47"/>
            <p:cNvSpPr>
              <a:spLocks noGrp="1"/>
            </p:cNvSpPr>
            <p:nvPr/>
          </p:nvSpPr>
          <p:spPr>
            <a:xfrm>
              <a:off x="7115175" y="1952625"/>
              <a:ext cx="6648450" cy="1190625"/>
            </a:xfrm>
            <a:custGeom>
              <a:avLst/>
              <a:gdLst/>
              <a:ahLst/>
              <a:cxnLst/>
              <a:pathLst>
                <a:path w="6648450" h="1190625">
                  <a:moveTo>
                    <a:pt x="0" y="781050"/>
                  </a:moveTo>
                  <a:lnTo>
                    <a:pt x="0" y="1190625"/>
                  </a:lnTo>
                  <a:lnTo>
                    <a:pt x="6648450" y="1190625"/>
                  </a:lnTo>
                  <a:lnTo>
                    <a:pt x="6648450" y="0"/>
                  </a:lnTo>
                </a:path>
              </a:pathLst>
            </a:custGeom>
            <a:noFill/>
            <a:ln w="12859">
              <a:solidFill>
                <a:srgbClr val="111111"/>
              </a:solidFill>
              <a:prstDash val="solid"/>
            </a:ln>
          </p:spPr>
        </p:sp>
        <p:sp>
          <p:nvSpPr>
            <p:cNvPr id="71" name="Arrow-47-head"/>
            <p:cNvSpPr>
              <a:spLocks noGrp="1"/>
            </p:cNvSpPr>
            <p:nvPr/>
          </p:nvSpPr>
          <p:spPr>
            <a:xfrm>
              <a:off x="13727430" y="1952625"/>
              <a:ext cx="72390" cy="71438"/>
            </a:xfrm>
            <a:custGeom>
              <a:avLst/>
              <a:gdLst/>
              <a:ahLst/>
              <a:cxnLst/>
              <a:pathLst>
                <a:path w="72390" h="71438">
                  <a:moveTo>
                    <a:pt x="36195" y="0"/>
                  </a:moveTo>
                  <a:lnTo>
                    <a:pt x="72390" y="71438"/>
                  </a:lnTo>
                  <a:lnTo>
                    <a:pt x="0" y="71438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grpSp>
        <p:nvGrpSpPr>
          <p:cNvPr id="920" name="Arrow-48-group"/>
          <p:cNvGrpSpPr/>
          <p:nvPr/>
        </p:nvGrpSpPr>
        <p:grpSpPr>
          <a:xfrm>
            <a:off x="9069705" y="2371725"/>
            <a:ext cx="72390" cy="209550"/>
            <a:chOff x="9069705" y="2371725"/>
            <a:chExt cx="72390" cy="209550"/>
          </a:xfrm>
        </p:grpSpPr>
        <p:sp>
          <p:nvSpPr>
            <p:cNvPr id="72" name="Arrow-48"/>
            <p:cNvSpPr>
              <a:spLocks noGrp="1"/>
            </p:cNvSpPr>
            <p:nvPr/>
          </p:nvSpPr>
          <p:spPr>
            <a:xfrm>
              <a:off x="9105900" y="2371725"/>
              <a:ext cx="95" cy="209550"/>
            </a:xfrm>
            <a:custGeom>
              <a:avLst/>
              <a:gdLst/>
              <a:ahLst/>
              <a:cxnLst/>
              <a:pathLst>
                <a:path w="95" h="209550">
                  <a:moveTo>
                    <a:pt x="0" y="209550"/>
                  </a:moveTo>
                  <a:lnTo>
                    <a:pt x="0" y="0"/>
                  </a:lnTo>
                </a:path>
              </a:pathLst>
            </a:custGeom>
            <a:noFill/>
            <a:ln w="12859">
              <a:solidFill>
                <a:srgbClr val="111111"/>
              </a:solidFill>
              <a:prstDash val="solid"/>
            </a:ln>
          </p:spPr>
        </p:sp>
        <p:sp>
          <p:nvSpPr>
            <p:cNvPr id="73" name="Arrow-48-head"/>
            <p:cNvSpPr>
              <a:spLocks noGrp="1"/>
            </p:cNvSpPr>
            <p:nvPr/>
          </p:nvSpPr>
          <p:spPr>
            <a:xfrm>
              <a:off x="9069705" y="2371725"/>
              <a:ext cx="72390" cy="71438"/>
            </a:xfrm>
            <a:custGeom>
              <a:avLst/>
              <a:gdLst/>
              <a:ahLst/>
              <a:cxnLst/>
              <a:pathLst>
                <a:path w="72390" h="71438">
                  <a:moveTo>
                    <a:pt x="36195" y="0"/>
                  </a:moveTo>
                  <a:lnTo>
                    <a:pt x="72390" y="71438"/>
                  </a:lnTo>
                  <a:lnTo>
                    <a:pt x="0" y="71438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grpSp>
        <p:nvGrpSpPr>
          <p:cNvPr id="921" name="Arrow-49-group"/>
          <p:cNvGrpSpPr/>
          <p:nvPr/>
        </p:nvGrpSpPr>
        <p:grpSpPr>
          <a:xfrm>
            <a:off x="9725025" y="1692275"/>
            <a:ext cx="133351" cy="72390"/>
            <a:chOff x="9725025" y="1764030"/>
            <a:chExt cx="133351" cy="72390"/>
          </a:xfrm>
        </p:grpSpPr>
        <p:sp>
          <p:nvSpPr>
            <p:cNvPr id="74" name="Arrow-49"/>
            <p:cNvSpPr>
              <a:spLocks noGrp="1"/>
            </p:cNvSpPr>
            <p:nvPr/>
          </p:nvSpPr>
          <p:spPr>
            <a:xfrm>
              <a:off x="9725025" y="1800225"/>
              <a:ext cx="133350" cy="95"/>
            </a:xfrm>
            <a:custGeom>
              <a:avLst/>
              <a:gdLst/>
              <a:ahLst/>
              <a:cxnLst/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2859">
              <a:solidFill>
                <a:srgbClr val="111111"/>
              </a:solidFill>
              <a:prstDash val="solid"/>
            </a:ln>
          </p:spPr>
        </p:sp>
        <p:sp>
          <p:nvSpPr>
            <p:cNvPr id="75" name="Arrow-49-head"/>
            <p:cNvSpPr>
              <a:spLocks noGrp="1"/>
            </p:cNvSpPr>
            <p:nvPr/>
          </p:nvSpPr>
          <p:spPr>
            <a:xfrm>
              <a:off x="9786938" y="1764030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grpSp>
        <p:nvGrpSpPr>
          <p:cNvPr id="924" name="Arrow-52-group"/>
          <p:cNvGrpSpPr/>
          <p:nvPr/>
        </p:nvGrpSpPr>
        <p:grpSpPr>
          <a:xfrm>
            <a:off x="12134850" y="1687830"/>
            <a:ext cx="288000" cy="72390"/>
            <a:chOff x="12115800" y="1697355"/>
            <a:chExt cx="352426" cy="72390"/>
          </a:xfrm>
        </p:grpSpPr>
        <p:sp>
          <p:nvSpPr>
            <p:cNvPr id="80" name="Arrow-52"/>
            <p:cNvSpPr>
              <a:spLocks noGrp="1"/>
            </p:cNvSpPr>
            <p:nvPr/>
          </p:nvSpPr>
          <p:spPr>
            <a:xfrm>
              <a:off x="12115800" y="1733550"/>
              <a:ext cx="352425" cy="95"/>
            </a:xfrm>
            <a:custGeom>
              <a:avLst/>
              <a:gdLst/>
              <a:ahLst/>
              <a:cxnLst/>
              <a:pathLst>
                <a:path w="352425" h="95">
                  <a:moveTo>
                    <a:pt x="0" y="0"/>
                  </a:moveTo>
                  <a:lnTo>
                    <a:pt x="352425" y="0"/>
                  </a:lnTo>
                </a:path>
              </a:pathLst>
            </a:custGeom>
            <a:noFill/>
            <a:ln w="12859">
              <a:solidFill>
                <a:srgbClr val="111111"/>
              </a:solidFill>
              <a:prstDash val="solid"/>
            </a:ln>
          </p:spPr>
        </p:sp>
        <p:sp>
          <p:nvSpPr>
            <p:cNvPr id="81" name="Arrow-52-head"/>
            <p:cNvSpPr>
              <a:spLocks noGrp="1"/>
            </p:cNvSpPr>
            <p:nvPr/>
          </p:nvSpPr>
          <p:spPr>
            <a:xfrm>
              <a:off x="12396788" y="1697355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grpSp>
        <p:nvGrpSpPr>
          <p:cNvPr id="925" name="Arrow-53-group"/>
          <p:cNvGrpSpPr/>
          <p:nvPr/>
        </p:nvGrpSpPr>
        <p:grpSpPr>
          <a:xfrm>
            <a:off x="13215620" y="1687830"/>
            <a:ext cx="342901" cy="72390"/>
            <a:chOff x="13258800" y="1697355"/>
            <a:chExt cx="342901" cy="72390"/>
          </a:xfrm>
        </p:grpSpPr>
        <p:sp>
          <p:nvSpPr>
            <p:cNvPr id="82" name="Arrow-53"/>
            <p:cNvSpPr>
              <a:spLocks noGrp="1"/>
            </p:cNvSpPr>
            <p:nvPr/>
          </p:nvSpPr>
          <p:spPr>
            <a:xfrm>
              <a:off x="13258800" y="1733550"/>
              <a:ext cx="342900" cy="95"/>
            </a:xfrm>
            <a:custGeom>
              <a:avLst/>
              <a:gdLst/>
              <a:ahLst/>
              <a:cxnLst/>
              <a:pathLst>
                <a:path w="342900" h="9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12859">
              <a:solidFill>
                <a:srgbClr val="111111"/>
              </a:solidFill>
              <a:prstDash val="solid"/>
            </a:ln>
          </p:spPr>
        </p:sp>
        <p:sp>
          <p:nvSpPr>
            <p:cNvPr id="83" name="Arrow-53-head"/>
            <p:cNvSpPr>
              <a:spLocks noGrp="1"/>
            </p:cNvSpPr>
            <p:nvPr/>
          </p:nvSpPr>
          <p:spPr>
            <a:xfrm>
              <a:off x="13530263" y="1697355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grpSp>
        <p:nvGrpSpPr>
          <p:cNvPr id="926" name="Arrow-54-group"/>
          <p:cNvGrpSpPr/>
          <p:nvPr/>
        </p:nvGrpSpPr>
        <p:grpSpPr>
          <a:xfrm>
            <a:off x="13925550" y="1744980"/>
            <a:ext cx="85726" cy="72390"/>
            <a:chOff x="13925550" y="1744980"/>
            <a:chExt cx="85726" cy="72390"/>
          </a:xfrm>
        </p:grpSpPr>
        <p:sp>
          <p:nvSpPr>
            <p:cNvPr id="84" name="Arrow-54"/>
            <p:cNvSpPr>
              <a:spLocks noGrp="1"/>
            </p:cNvSpPr>
            <p:nvPr/>
          </p:nvSpPr>
          <p:spPr>
            <a:xfrm>
              <a:off x="13925550" y="1781175"/>
              <a:ext cx="85725" cy="95"/>
            </a:xfrm>
            <a:custGeom>
              <a:avLst/>
              <a:gdLst/>
              <a:ahLst/>
              <a:cxnLst/>
              <a:pathLst>
                <a:path w="85725" h="95">
                  <a:moveTo>
                    <a:pt x="0" y="0"/>
                  </a:moveTo>
                  <a:lnTo>
                    <a:pt x="85725" y="0"/>
                  </a:lnTo>
                </a:path>
              </a:pathLst>
            </a:custGeom>
            <a:noFill/>
            <a:ln w="12859">
              <a:solidFill>
                <a:srgbClr val="111111"/>
              </a:solidFill>
              <a:prstDash val="solid"/>
            </a:ln>
          </p:spPr>
        </p:sp>
        <p:sp>
          <p:nvSpPr>
            <p:cNvPr id="85" name="Arrow-54-head"/>
            <p:cNvSpPr>
              <a:spLocks noGrp="1"/>
            </p:cNvSpPr>
            <p:nvPr/>
          </p:nvSpPr>
          <p:spPr>
            <a:xfrm>
              <a:off x="13939838" y="1744980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grpSp>
        <p:nvGrpSpPr>
          <p:cNvPr id="927" name="Arrow-55-group"/>
          <p:cNvGrpSpPr/>
          <p:nvPr/>
        </p:nvGrpSpPr>
        <p:grpSpPr>
          <a:xfrm>
            <a:off x="14292263" y="1764030"/>
            <a:ext cx="71438" cy="72390"/>
            <a:chOff x="14292263" y="1764030"/>
            <a:chExt cx="71438" cy="72390"/>
          </a:xfrm>
        </p:grpSpPr>
        <p:sp>
          <p:nvSpPr>
            <p:cNvPr id="86" name="Arrow-55"/>
            <p:cNvSpPr>
              <a:spLocks noGrp="1"/>
            </p:cNvSpPr>
            <p:nvPr/>
          </p:nvSpPr>
          <p:spPr>
            <a:xfrm>
              <a:off x="14297025" y="1800225"/>
              <a:ext cx="66675" cy="95"/>
            </a:xfrm>
            <a:custGeom>
              <a:avLst/>
              <a:gdLst/>
              <a:ahLst/>
              <a:cxnLst/>
              <a:pathLst>
                <a:path w="66675" h="95">
                  <a:moveTo>
                    <a:pt x="0" y="0"/>
                  </a:moveTo>
                  <a:lnTo>
                    <a:pt x="66675" y="0"/>
                  </a:lnTo>
                </a:path>
              </a:pathLst>
            </a:custGeom>
            <a:noFill/>
            <a:ln w="12859">
              <a:solidFill>
                <a:srgbClr val="111111"/>
              </a:solidFill>
              <a:prstDash val="solid"/>
            </a:ln>
          </p:spPr>
        </p:sp>
        <p:sp>
          <p:nvSpPr>
            <p:cNvPr id="87" name="Arrow-55-head"/>
            <p:cNvSpPr>
              <a:spLocks noGrp="1"/>
            </p:cNvSpPr>
            <p:nvPr/>
          </p:nvSpPr>
          <p:spPr>
            <a:xfrm>
              <a:off x="14292263" y="1764030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grpSp>
        <p:nvGrpSpPr>
          <p:cNvPr id="928" name="Arrow-56-group"/>
          <p:cNvGrpSpPr/>
          <p:nvPr/>
        </p:nvGrpSpPr>
        <p:grpSpPr>
          <a:xfrm>
            <a:off x="15001875" y="1773555"/>
            <a:ext cx="95251" cy="72390"/>
            <a:chOff x="15001875" y="1773555"/>
            <a:chExt cx="95251" cy="72390"/>
          </a:xfrm>
        </p:grpSpPr>
        <p:sp>
          <p:nvSpPr>
            <p:cNvPr id="88" name="Arrow-56"/>
            <p:cNvSpPr>
              <a:spLocks noGrp="1"/>
            </p:cNvSpPr>
            <p:nvPr/>
          </p:nvSpPr>
          <p:spPr>
            <a:xfrm>
              <a:off x="15001875" y="1809750"/>
              <a:ext cx="95250" cy="95"/>
            </a:xfrm>
            <a:custGeom>
              <a:avLst/>
              <a:gdLst/>
              <a:ahLst/>
              <a:cxnLst/>
              <a:pathLst>
                <a:path w="95250" h="9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w="12859">
              <a:solidFill>
                <a:srgbClr val="111111"/>
              </a:solidFill>
              <a:prstDash val="solid"/>
            </a:ln>
          </p:spPr>
        </p:sp>
        <p:sp>
          <p:nvSpPr>
            <p:cNvPr id="89" name="Arrow-56-head"/>
            <p:cNvSpPr>
              <a:spLocks noGrp="1"/>
            </p:cNvSpPr>
            <p:nvPr/>
          </p:nvSpPr>
          <p:spPr>
            <a:xfrm>
              <a:off x="15025688" y="1773555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sp>
        <p:nvSpPr>
          <p:cNvPr id="90" name="Formula-57-0"/>
          <p:cNvSpPr>
            <a:spLocks noGrp="1"/>
          </p:cNvSpPr>
          <p:nvPr/>
        </p:nvSpPr>
        <p:spPr>
          <a:xfrm>
            <a:off x="6917531" y="1143000"/>
            <a:ext cx="119063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725" b="0" i="1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725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q</a:t>
            </a:r>
            <a:endParaRPr sz="1725" b="0" i="1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91" name="Fixed Time Lookup-58"/>
          <p:cNvSpPr>
            <a:spLocks noGrp="1"/>
          </p:cNvSpPr>
          <p:nvPr/>
        </p:nvSpPr>
        <p:spPr>
          <a:xfrm>
            <a:off x="7248525" y="1047750"/>
            <a:ext cx="847725" cy="504825"/>
          </a:xfrm>
          <a:prstGeom prst="roundRect">
            <a:avLst>
              <a:gd name="adj" fmla="val 5660"/>
            </a:avLst>
          </a:prstGeom>
          <a:gradFill>
            <a:gsLst>
              <a:gs pos="0">
                <a:srgbClr val="FFFFFF"/>
              </a:gs>
              <a:gs pos="100000">
                <a:srgbClr val="F2F2F2"/>
              </a:gs>
            </a:gsLst>
            <a:lin ang="5400000"/>
          </a:gradFill>
          <a:ln w="9525">
            <a:solidFill>
              <a:srgbClr val="ADADAD"/>
            </a:solidFill>
            <a:prstDash val="solid"/>
          </a:ln>
        </p:spPr>
      </p:sp>
      <p:sp>
        <p:nvSpPr>
          <p:cNvPr id="92" name="Text-59"/>
          <p:cNvSpPr>
            <a:spLocks noGrp="1"/>
          </p:cNvSpPr>
          <p:nvPr/>
        </p:nvSpPr>
        <p:spPr>
          <a:xfrm>
            <a:off x="7286625" y="1114425"/>
            <a:ext cx="771525" cy="390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90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29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Fixed Time</a:t>
            </a:r>
            <a:endParaRPr sz="1290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  <a:p>
            <a:pPr algn="ctr">
              <a:lnSpc>
                <a:spcPct val="100000"/>
              </a:lnSpc>
              <a:buNone/>
              <a:defRPr sz="1290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29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Lookup</a:t>
            </a:r>
            <a:endParaRPr sz="1290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grpSp>
        <p:nvGrpSpPr>
          <p:cNvPr id="929" name="Formula-60"/>
          <p:cNvGrpSpPr/>
          <p:nvPr/>
        </p:nvGrpSpPr>
        <p:grpSpPr>
          <a:xfrm>
            <a:off x="8206759" y="1076325"/>
            <a:ext cx="159982" cy="326517"/>
            <a:chOff x="8206759" y="1076325"/>
            <a:chExt cx="159982" cy="326517"/>
          </a:xfrm>
        </p:grpSpPr>
        <p:sp>
          <p:nvSpPr>
            <p:cNvPr id="93" name="Formula-60-0"/>
            <p:cNvSpPr>
              <a:spLocks noGrp="1"/>
            </p:cNvSpPr>
            <p:nvPr/>
          </p:nvSpPr>
          <p:spPr>
            <a:xfrm>
              <a:off x="8206759" y="1076325"/>
              <a:ext cx="84544" cy="276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65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65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τ</a:t>
              </a:r>
              <a:endParaRPr sz="165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94" name="Formula-60-1"/>
            <p:cNvSpPr>
              <a:spLocks noGrp="1"/>
            </p:cNvSpPr>
            <p:nvPr/>
          </p:nvSpPr>
          <p:spPr>
            <a:xfrm>
              <a:off x="8281778" y="1126617"/>
              <a:ext cx="84963" cy="276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19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19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q</a:t>
              </a:r>
              <a:endParaRPr sz="119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</p:grpSp>
      <p:sp>
        <p:nvSpPr>
          <p:cNvPr id="95" name="Base Context-61"/>
          <p:cNvSpPr>
            <a:spLocks noGrp="1"/>
          </p:cNvSpPr>
          <p:nvPr/>
        </p:nvSpPr>
        <p:spPr>
          <a:xfrm>
            <a:off x="7248525" y="1724025"/>
            <a:ext cx="1000125" cy="436880"/>
          </a:xfrm>
          <a:prstGeom prst="roundRect">
            <a:avLst>
              <a:gd name="adj" fmla="val 7500"/>
            </a:avLst>
          </a:prstGeom>
          <a:solidFill>
            <a:srgbClr val="F6FAFF"/>
          </a:solidFill>
          <a:ln w="7620">
            <a:solidFill>
              <a:srgbClr val="5C8FCF"/>
            </a:solidFill>
            <a:prstDash val="dot"/>
          </a:ln>
        </p:spPr>
      </p:sp>
      <p:sp>
        <p:nvSpPr>
          <p:cNvPr id="96" name="Text-62"/>
          <p:cNvSpPr>
            <a:spLocks noGrp="1"/>
          </p:cNvSpPr>
          <p:nvPr/>
        </p:nvSpPr>
        <p:spPr>
          <a:xfrm>
            <a:off x="7334250" y="1724025"/>
            <a:ext cx="828675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Context</a:t>
            </a:r>
            <a:endParaRPr sz="1350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grpSp>
        <p:nvGrpSpPr>
          <p:cNvPr id="930" name="Formula-63"/>
          <p:cNvGrpSpPr/>
          <p:nvPr/>
        </p:nvGrpSpPr>
        <p:grpSpPr>
          <a:xfrm>
            <a:off x="7664189" y="1905000"/>
            <a:ext cx="312307" cy="255651"/>
            <a:chOff x="7592434" y="1905000"/>
            <a:chExt cx="312307" cy="255651"/>
          </a:xfrm>
        </p:grpSpPr>
        <p:sp>
          <p:nvSpPr>
            <p:cNvPr id="97" name="Formula-63-0"/>
            <p:cNvSpPr>
              <a:spLocks noGrp="1"/>
            </p:cNvSpPr>
            <p:nvPr/>
          </p:nvSpPr>
          <p:spPr>
            <a:xfrm>
              <a:off x="7592434" y="1905000"/>
              <a:ext cx="111176" cy="2190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20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20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C</a:t>
              </a:r>
              <a:endParaRPr sz="120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98" name="Formula-63-1"/>
            <p:cNvSpPr>
              <a:spLocks noGrp="1"/>
            </p:cNvSpPr>
            <p:nvPr/>
          </p:nvSpPr>
          <p:spPr>
            <a:xfrm>
              <a:off x="7694085" y="1941576"/>
              <a:ext cx="210656" cy="2190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865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lang="en-US" sz="865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q</a:t>
              </a:r>
              <a:endParaRPr lang="en-US" sz="865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</p:grpSp>
      <p:pic>
        <p:nvPicPr>
          <p:cNvPr id="550" name="图片 54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0" y="2190750"/>
            <a:ext cx="447675" cy="571500"/>
          </a:xfrm>
          <a:prstGeom prst="rect">
            <a:avLst/>
          </a:prstGeom>
        </p:spPr>
      </p:pic>
      <p:grpSp>
        <p:nvGrpSpPr>
          <p:cNvPr id="931" name="Formula-64"/>
          <p:cNvGrpSpPr/>
          <p:nvPr/>
        </p:nvGrpSpPr>
        <p:grpSpPr>
          <a:xfrm>
            <a:off x="7229589" y="2800350"/>
            <a:ext cx="180747" cy="331089"/>
            <a:chOff x="7229589" y="2800350"/>
            <a:chExt cx="180747" cy="331089"/>
          </a:xfrm>
        </p:grpSpPr>
        <p:sp>
          <p:nvSpPr>
            <p:cNvPr id="100" name="Formula-64-0"/>
            <p:cNvSpPr>
              <a:spLocks noGrp="1"/>
            </p:cNvSpPr>
            <p:nvPr/>
          </p:nvSpPr>
          <p:spPr>
            <a:xfrm>
              <a:off x="7229589" y="2800350"/>
              <a:ext cx="98450" cy="276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80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80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z</a:t>
              </a:r>
              <a:endParaRPr sz="180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101" name="Formula-64-1"/>
            <p:cNvSpPr>
              <a:spLocks noGrp="1"/>
            </p:cNvSpPr>
            <p:nvPr/>
          </p:nvSpPr>
          <p:spPr>
            <a:xfrm>
              <a:off x="7318515" y="2855214"/>
              <a:ext cx="91821" cy="276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295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295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q</a:t>
              </a:r>
              <a:endParaRPr sz="1295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</p:grpSp>
      <p:sp>
        <p:nvSpPr>
          <p:cNvPr id="102" name="Video DiT"/>
          <p:cNvSpPr>
            <a:spLocks noGrp="1"/>
          </p:cNvSpPr>
          <p:nvPr/>
        </p:nvSpPr>
        <p:spPr>
          <a:xfrm>
            <a:off x="8515350" y="904875"/>
            <a:ext cx="1209675" cy="1628775"/>
          </a:xfrm>
          <a:custGeom>
            <a:avLst/>
            <a:gdLst/>
            <a:ahLst/>
            <a:cxnLst/>
            <a:pathLst>
              <a:path w="1209675" h="1628775">
                <a:moveTo>
                  <a:pt x="0" y="0"/>
                </a:moveTo>
                <a:lnTo>
                  <a:pt x="1209675" y="323850"/>
                </a:lnTo>
                <a:lnTo>
                  <a:pt x="1209675" y="1314450"/>
                </a:lnTo>
                <a:lnTo>
                  <a:pt x="0" y="1628775"/>
                </a:lnTo>
                <a:close/>
              </a:path>
            </a:pathLst>
          </a:custGeom>
          <a:gradFill>
            <a:gsLst>
              <a:gs pos="0">
                <a:srgbClr val="B8DEFE"/>
              </a:gs>
              <a:gs pos="100000">
                <a:srgbClr val="EBF8FF"/>
              </a:gs>
            </a:gsLst>
            <a:lin ang="5400000"/>
          </a:gradFill>
          <a:ln w="12383">
            <a:solidFill>
              <a:srgbClr val="0077FF"/>
            </a:solidFill>
            <a:prstDash val="solid"/>
          </a:ln>
        </p:spPr>
      </p:sp>
      <p:sp>
        <p:nvSpPr>
          <p:cNvPr id="103" name="Text-65"/>
          <p:cNvSpPr>
            <a:spLocks noGrp="1"/>
          </p:cNvSpPr>
          <p:nvPr/>
        </p:nvSpPr>
        <p:spPr>
          <a:xfrm>
            <a:off x="8591550" y="1577340"/>
            <a:ext cx="1076325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000066"/>
                </a:solidFill>
                <a:latin typeface="Nimbus Roman"/>
                <a:ea typeface="Nimbus Roman"/>
                <a:cs typeface="Nimbus Roman"/>
              </a:defRPr>
            </a:pPr>
            <a:r>
              <a:rPr sz="1800" b="1" i="0">
                <a:solidFill>
                  <a:srgbClr val="000066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Video DiT</a:t>
            </a:r>
            <a:endParaRPr sz="1800" b="1" i="0">
              <a:solidFill>
                <a:srgbClr val="000066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pic>
        <p:nvPicPr>
          <p:cNvPr id="556" name="图片 55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2550" y="1943100"/>
            <a:ext cx="276225" cy="295275"/>
          </a:xfrm>
          <a:prstGeom prst="rect">
            <a:avLst/>
          </a:prstGeom>
        </p:spPr>
      </p:pic>
      <p:sp>
        <p:nvSpPr>
          <p:cNvPr id="106" name="LoRA-67"/>
          <p:cNvSpPr>
            <a:spLocks noGrp="1"/>
          </p:cNvSpPr>
          <p:nvPr/>
        </p:nvSpPr>
        <p:spPr>
          <a:xfrm>
            <a:off x="8505825" y="2581275"/>
            <a:ext cx="1219200" cy="447675"/>
          </a:xfrm>
          <a:prstGeom prst="roundRect">
            <a:avLst>
              <a:gd name="adj" fmla="val 6383"/>
            </a:avLst>
          </a:prstGeom>
          <a:gradFill>
            <a:gsLst>
              <a:gs pos="0">
                <a:srgbClr val="E5FBEF"/>
              </a:gs>
              <a:gs pos="100000">
                <a:srgbClr val="DFF4E6"/>
              </a:gs>
            </a:gsLst>
            <a:lin ang="5400000"/>
          </a:gradFill>
          <a:ln w="9525">
            <a:solidFill>
              <a:srgbClr val="00AD68"/>
            </a:solidFill>
            <a:prstDash val="solid"/>
          </a:ln>
        </p:spPr>
      </p:sp>
      <p:sp>
        <p:nvSpPr>
          <p:cNvPr id="107" name="Text-68"/>
          <p:cNvSpPr>
            <a:spLocks noGrp="1"/>
          </p:cNvSpPr>
          <p:nvPr/>
        </p:nvSpPr>
        <p:spPr>
          <a:xfrm>
            <a:off x="8772525" y="2657475"/>
            <a:ext cx="6381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875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875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LoRA</a:t>
            </a:r>
            <a:endParaRPr sz="1875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pic>
        <p:nvPicPr>
          <p:cNvPr id="559" name="图片 55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1175" y="2638425"/>
            <a:ext cx="238125" cy="333375"/>
          </a:xfrm>
          <a:prstGeom prst="rect">
            <a:avLst/>
          </a:prstGeom>
        </p:spPr>
      </p:pic>
      <p:sp>
        <p:nvSpPr>
          <p:cNvPr id="110" name="Formula-69-0"/>
          <p:cNvSpPr>
            <a:spLocks noGrp="1"/>
          </p:cNvSpPr>
          <p:nvPr/>
        </p:nvSpPr>
        <p:spPr>
          <a:xfrm>
            <a:off x="9956851" y="1224280"/>
            <a:ext cx="111023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800" b="0" i="1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80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v</a:t>
            </a:r>
            <a:endParaRPr sz="1800" b="0" i="1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111" name="Direction Adaptation-70"/>
          <p:cNvSpPr>
            <a:spLocks noGrp="1"/>
          </p:cNvSpPr>
          <p:nvPr/>
        </p:nvSpPr>
        <p:spPr>
          <a:xfrm>
            <a:off x="10295890" y="1285875"/>
            <a:ext cx="771525" cy="866775"/>
          </a:xfrm>
          <a:prstGeom prst="roundRect">
            <a:avLst>
              <a:gd name="adj" fmla="val 3704"/>
            </a:avLst>
          </a:prstGeom>
          <a:gradFill>
            <a:gsLst>
              <a:gs pos="0">
                <a:srgbClr val="FF0000">
                  <a:alpha val="34000"/>
                </a:srgbClr>
              </a:gs>
              <a:gs pos="100000">
                <a:srgbClr val="FF0000">
                  <a:alpha val="15000"/>
                </a:srgbClr>
              </a:gs>
            </a:gsLst>
            <a:lin ang="5400000"/>
          </a:gradFill>
          <a:ln w="10478">
            <a:solidFill>
              <a:srgbClr val="FF0000"/>
            </a:solidFill>
            <a:prstDash val="solid"/>
          </a:ln>
        </p:spPr>
      </p:sp>
      <p:sp>
        <p:nvSpPr>
          <p:cNvPr id="112" name="Text-71"/>
          <p:cNvSpPr>
            <a:spLocks noGrp="1"/>
          </p:cNvSpPr>
          <p:nvPr/>
        </p:nvSpPr>
        <p:spPr>
          <a:xfrm>
            <a:off x="10339070" y="1504950"/>
            <a:ext cx="71437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45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245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Direction</a:t>
            </a:r>
            <a:endParaRPr sz="1245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  <a:p>
            <a:pPr algn="ctr">
              <a:lnSpc>
                <a:spcPct val="100000"/>
              </a:lnSpc>
              <a:buNone/>
              <a:defRPr sz="1245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245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Adaptation</a:t>
            </a:r>
            <a:endParaRPr sz="1245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grpSp>
        <p:nvGrpSpPr>
          <p:cNvPr id="932" name="Formula-72"/>
          <p:cNvGrpSpPr/>
          <p:nvPr/>
        </p:nvGrpSpPr>
        <p:grpSpPr>
          <a:xfrm>
            <a:off x="11130915" y="1391920"/>
            <a:ext cx="203835" cy="347980"/>
            <a:chOff x="11030045" y="1438275"/>
            <a:chExt cx="203645" cy="347853"/>
          </a:xfrm>
        </p:grpSpPr>
        <p:sp>
          <p:nvSpPr>
            <p:cNvPr id="113" name="Formula-72-0"/>
            <p:cNvSpPr>
              <a:spLocks noGrp="1"/>
            </p:cNvSpPr>
            <p:nvPr/>
          </p:nvSpPr>
          <p:spPr>
            <a:xfrm>
              <a:off x="11030045" y="1438275"/>
              <a:ext cx="119063" cy="2952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725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725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d</a:t>
              </a:r>
              <a:endParaRPr sz="1725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114" name="Formula-72-1"/>
            <p:cNvSpPr>
              <a:spLocks noGrp="1"/>
            </p:cNvSpPr>
            <p:nvPr/>
          </p:nvSpPr>
          <p:spPr>
            <a:xfrm>
              <a:off x="11145298" y="1490853"/>
              <a:ext cx="88392" cy="2952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24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24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0</a:t>
              </a:r>
              <a:endParaRPr sz="124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</p:grpSp>
      <p:sp>
        <p:nvSpPr>
          <p:cNvPr id="115" name="Base Gain Modulation-73"/>
          <p:cNvSpPr>
            <a:spLocks noGrp="1"/>
          </p:cNvSpPr>
          <p:nvPr/>
        </p:nvSpPr>
        <p:spPr>
          <a:xfrm>
            <a:off x="11353800" y="1285875"/>
            <a:ext cx="790575" cy="866775"/>
          </a:xfrm>
          <a:prstGeom prst="roundRect">
            <a:avLst>
              <a:gd name="adj" fmla="val 3614"/>
            </a:avLst>
          </a:prstGeom>
          <a:gradFill>
            <a:gsLst>
              <a:gs pos="0">
                <a:srgbClr val="00B050">
                  <a:alpha val="44000"/>
                </a:srgbClr>
              </a:gs>
              <a:gs pos="100000">
                <a:srgbClr val="DFF4E6"/>
              </a:gs>
            </a:gsLst>
            <a:lin ang="5400000"/>
          </a:gradFill>
          <a:ln w="10478">
            <a:solidFill>
              <a:srgbClr val="00B56B"/>
            </a:solidFill>
            <a:prstDash val="solid"/>
          </a:ln>
        </p:spPr>
      </p:sp>
      <p:sp>
        <p:nvSpPr>
          <p:cNvPr id="116" name="Text-74"/>
          <p:cNvSpPr>
            <a:spLocks noGrp="1"/>
          </p:cNvSpPr>
          <p:nvPr/>
        </p:nvSpPr>
        <p:spPr>
          <a:xfrm>
            <a:off x="11382375" y="1514475"/>
            <a:ext cx="73342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20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22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Base Gain</a:t>
            </a:r>
            <a:endParaRPr sz="1220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  <a:p>
            <a:pPr algn="ctr">
              <a:lnSpc>
                <a:spcPct val="100000"/>
              </a:lnSpc>
              <a:buNone/>
              <a:defRPr sz="1220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22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Modulation</a:t>
            </a:r>
            <a:endParaRPr sz="1220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grpSp>
        <p:nvGrpSpPr>
          <p:cNvPr id="933" name="Formula-75"/>
          <p:cNvGrpSpPr/>
          <p:nvPr/>
        </p:nvGrpSpPr>
        <p:grpSpPr>
          <a:xfrm>
            <a:off x="12199080" y="1366520"/>
            <a:ext cx="197930" cy="347853"/>
            <a:chOff x="12207335" y="1438275"/>
            <a:chExt cx="197930" cy="347853"/>
          </a:xfrm>
        </p:grpSpPr>
        <p:sp>
          <p:nvSpPr>
            <p:cNvPr id="117" name="Formula-75-0"/>
            <p:cNvSpPr>
              <a:spLocks noGrp="1"/>
            </p:cNvSpPr>
            <p:nvPr/>
          </p:nvSpPr>
          <p:spPr>
            <a:xfrm>
              <a:off x="12207335" y="1438275"/>
              <a:ext cx="119063" cy="2952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725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725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u</a:t>
              </a:r>
              <a:endParaRPr sz="1725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118" name="Formula-75-1"/>
            <p:cNvSpPr>
              <a:spLocks noGrp="1"/>
            </p:cNvSpPr>
            <p:nvPr/>
          </p:nvSpPr>
          <p:spPr>
            <a:xfrm>
              <a:off x="12316873" y="1490853"/>
              <a:ext cx="88392" cy="2952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24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24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0</a:t>
              </a:r>
              <a:endParaRPr sz="124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</p:grpSp>
      <p:sp>
        <p:nvSpPr>
          <p:cNvPr id="119" name="Output Modulation-76"/>
          <p:cNvSpPr>
            <a:spLocks noGrp="1"/>
          </p:cNvSpPr>
          <p:nvPr/>
        </p:nvSpPr>
        <p:spPr>
          <a:xfrm>
            <a:off x="12425045" y="1285875"/>
            <a:ext cx="790575" cy="866775"/>
          </a:xfrm>
          <a:prstGeom prst="roundRect">
            <a:avLst>
              <a:gd name="adj" fmla="val 3614"/>
            </a:avLst>
          </a:prstGeom>
          <a:gradFill>
            <a:gsLst>
              <a:gs pos="0">
                <a:srgbClr val="FFC000">
                  <a:alpha val="42000"/>
                </a:srgbClr>
              </a:gs>
              <a:gs pos="100000">
                <a:srgbClr val="FFC000">
                  <a:alpha val="15000"/>
                </a:srgbClr>
              </a:gs>
            </a:gsLst>
            <a:lin ang="5400000"/>
          </a:gradFill>
          <a:ln w="10478">
            <a:solidFill>
              <a:srgbClr val="00B56B"/>
            </a:solidFill>
            <a:prstDash val="solid"/>
          </a:ln>
        </p:spPr>
      </p:sp>
      <p:sp>
        <p:nvSpPr>
          <p:cNvPr id="120" name="Text-77"/>
          <p:cNvSpPr>
            <a:spLocks noGrp="1"/>
          </p:cNvSpPr>
          <p:nvPr/>
        </p:nvSpPr>
        <p:spPr>
          <a:xfrm>
            <a:off x="12453620" y="1514475"/>
            <a:ext cx="733425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220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22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Output</a:t>
            </a:r>
            <a:endParaRPr sz="1220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  <a:p>
            <a:pPr algn="ctr">
              <a:lnSpc>
                <a:spcPct val="100000"/>
              </a:lnSpc>
              <a:buNone/>
              <a:defRPr sz="1220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22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Modulation</a:t>
            </a:r>
            <a:endParaRPr sz="1220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121" name="Formula-78-0"/>
          <p:cNvSpPr>
            <a:spLocks noGrp="1"/>
          </p:cNvSpPr>
          <p:nvPr/>
        </p:nvSpPr>
        <p:spPr>
          <a:xfrm>
            <a:off x="13258483" y="1406525"/>
            <a:ext cx="2286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725" b="0" i="1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725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ad</a:t>
            </a:r>
            <a:endParaRPr sz="1725" b="0" i="1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122" name="Latent residual addition-79"/>
          <p:cNvSpPr>
            <a:spLocks noGrp="1"/>
          </p:cNvSpPr>
          <p:nvPr/>
        </p:nvSpPr>
        <p:spPr>
          <a:xfrm>
            <a:off x="13561060" y="1577340"/>
            <a:ext cx="2880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111111"/>
            </a:solidFill>
            <a:prstDash val="solid"/>
          </a:ln>
        </p:spPr>
        <p:txBody>
          <a:bodyPr lIns="0" tIns="0" rIns="0" bIns="0" anchor="ctr" anchorCtr="1"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+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75" name="图片 57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01750" y="1571625"/>
            <a:ext cx="323850" cy="476250"/>
          </a:xfrm>
          <a:prstGeom prst="rect">
            <a:avLst/>
          </a:prstGeom>
        </p:spPr>
      </p:pic>
      <p:grpSp>
        <p:nvGrpSpPr>
          <p:cNvPr id="934" name="Formula-81"/>
          <p:cNvGrpSpPr/>
          <p:nvPr/>
        </p:nvGrpSpPr>
        <p:grpSpPr>
          <a:xfrm>
            <a:off x="14061745" y="1295400"/>
            <a:ext cx="108219" cy="295275"/>
            <a:chOff x="14133500" y="1295400"/>
            <a:chExt cx="108219" cy="295275"/>
          </a:xfrm>
        </p:grpSpPr>
        <p:sp>
          <p:nvSpPr>
            <p:cNvPr id="125" name="Formula-81-0"/>
            <p:cNvSpPr>
              <a:spLocks noGrp="1"/>
            </p:cNvSpPr>
            <p:nvPr/>
          </p:nvSpPr>
          <p:spPr>
            <a:xfrm>
              <a:off x="14133500" y="1295400"/>
              <a:ext cx="98450" cy="2952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80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80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z</a:t>
              </a:r>
              <a:endParaRPr sz="180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126" name="Formula-81-hat-1"/>
            <p:cNvSpPr>
              <a:spLocks noGrp="1"/>
            </p:cNvSpPr>
            <p:nvPr/>
          </p:nvSpPr>
          <p:spPr>
            <a:xfrm>
              <a:off x="14177711" y="1376744"/>
              <a:ext cx="64008" cy="32004"/>
            </a:xfrm>
            <a:custGeom>
              <a:avLst/>
              <a:gdLst/>
              <a:ahLst/>
              <a:cxnLst/>
              <a:pathLst>
                <a:path w="64008" h="32004">
                  <a:moveTo>
                    <a:pt x="0" y="32004"/>
                  </a:moveTo>
                  <a:lnTo>
                    <a:pt x="32004" y="0"/>
                  </a:lnTo>
                  <a:lnTo>
                    <a:pt x="64008" y="32004"/>
                  </a:lnTo>
                </a:path>
              </a:pathLst>
            </a:custGeom>
            <a:noFill/>
            <a:ln w="9049">
              <a:solidFill>
                <a:srgbClr val="080808"/>
              </a:solidFill>
              <a:prstDash val="solid"/>
            </a:ln>
          </p:spPr>
        </p:sp>
      </p:grpSp>
      <p:sp>
        <p:nvSpPr>
          <p:cNvPr id="127" name="Video VAE Decoder"/>
          <p:cNvSpPr>
            <a:spLocks noGrp="1"/>
          </p:cNvSpPr>
          <p:nvPr/>
        </p:nvSpPr>
        <p:spPr>
          <a:xfrm>
            <a:off x="14363700" y="1047750"/>
            <a:ext cx="638175" cy="1485900"/>
          </a:xfrm>
          <a:custGeom>
            <a:avLst/>
            <a:gdLst/>
            <a:ahLst/>
            <a:cxnLst/>
            <a:pathLst>
              <a:path w="638175" h="1485900">
                <a:moveTo>
                  <a:pt x="0" y="276225"/>
                </a:moveTo>
                <a:lnTo>
                  <a:pt x="638175" y="0"/>
                </a:lnTo>
                <a:lnTo>
                  <a:pt x="638175" y="1485900"/>
                </a:lnTo>
                <a:lnTo>
                  <a:pt x="0" y="1219200"/>
                </a:lnTo>
                <a:close/>
              </a:path>
            </a:pathLst>
          </a:custGeom>
          <a:gradFill>
            <a:gsLst>
              <a:gs pos="0">
                <a:srgbClr val="B8DEFE"/>
              </a:gs>
              <a:gs pos="100000">
                <a:srgbClr val="EBF8FF"/>
              </a:gs>
            </a:gsLst>
            <a:lin ang="5400000"/>
          </a:gradFill>
          <a:ln w="12383">
            <a:solidFill>
              <a:srgbClr val="0077FF"/>
            </a:solidFill>
            <a:prstDash val="solid"/>
          </a:ln>
        </p:spPr>
      </p:sp>
      <p:sp>
        <p:nvSpPr>
          <p:cNvPr id="128" name="Text-82"/>
          <p:cNvSpPr>
            <a:spLocks noGrp="1"/>
          </p:cNvSpPr>
          <p:nvPr/>
        </p:nvSpPr>
        <p:spPr>
          <a:xfrm>
            <a:off x="14401800" y="1381125"/>
            <a:ext cx="581025" cy="638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30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33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Video</a:t>
            </a:r>
            <a:endParaRPr sz="1330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  <a:p>
            <a:pPr algn="ctr">
              <a:lnSpc>
                <a:spcPct val="100000"/>
              </a:lnSpc>
              <a:buNone/>
              <a:defRPr sz="1330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33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VAE</a:t>
            </a:r>
            <a:endParaRPr sz="1330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  <a:p>
            <a:pPr algn="ctr">
              <a:lnSpc>
                <a:spcPct val="100000"/>
              </a:lnSpc>
              <a:buNone/>
              <a:defRPr sz="1330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33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Decoder</a:t>
            </a:r>
            <a:endParaRPr sz="1330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pic>
        <p:nvPicPr>
          <p:cNvPr id="580" name="图片 57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563725" y="2066925"/>
            <a:ext cx="285750" cy="276225"/>
          </a:xfrm>
          <a:prstGeom prst="rect">
            <a:avLst/>
          </a:prstGeom>
        </p:spPr>
      </p:pic>
      <p:pic>
        <p:nvPicPr>
          <p:cNvPr id="581" name="图片 58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078075" y="847725"/>
            <a:ext cx="619125" cy="1838325"/>
          </a:xfrm>
          <a:prstGeom prst="rect">
            <a:avLst/>
          </a:prstGeom>
        </p:spPr>
      </p:pic>
      <p:grpSp>
        <p:nvGrpSpPr>
          <p:cNvPr id="935" name="Formula-83"/>
          <p:cNvGrpSpPr/>
          <p:nvPr/>
        </p:nvGrpSpPr>
        <p:grpSpPr>
          <a:xfrm>
            <a:off x="15391924" y="581025"/>
            <a:ext cx="120586" cy="314325"/>
            <a:chOff x="15391924" y="581025"/>
            <a:chExt cx="120586" cy="314325"/>
          </a:xfrm>
        </p:grpSpPr>
        <p:sp>
          <p:nvSpPr>
            <p:cNvPr id="131" name="Formula-83-0"/>
            <p:cNvSpPr>
              <a:spLocks noGrp="1"/>
            </p:cNvSpPr>
            <p:nvPr/>
          </p:nvSpPr>
          <p:spPr>
            <a:xfrm>
              <a:off x="15391924" y="581025"/>
              <a:ext cx="115253" cy="3143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875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875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x</a:t>
              </a:r>
              <a:endParaRPr sz="1875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132" name="Formula-83-hat-1"/>
            <p:cNvSpPr>
              <a:spLocks noGrp="1"/>
            </p:cNvSpPr>
            <p:nvPr/>
          </p:nvSpPr>
          <p:spPr>
            <a:xfrm>
              <a:off x="15445835" y="669131"/>
              <a:ext cx="66675" cy="33338"/>
            </a:xfrm>
            <a:custGeom>
              <a:avLst/>
              <a:gdLst/>
              <a:ahLst/>
              <a:cxnLst/>
              <a:pathLst>
                <a:path w="66675" h="33338">
                  <a:moveTo>
                    <a:pt x="0" y="33338"/>
                  </a:moveTo>
                  <a:lnTo>
                    <a:pt x="33338" y="0"/>
                  </a:lnTo>
                  <a:lnTo>
                    <a:pt x="66675" y="33338"/>
                  </a:lnTo>
                </a:path>
              </a:pathLst>
            </a:custGeom>
            <a:noFill/>
            <a:ln w="9049">
              <a:solidFill>
                <a:srgbClr val="080808"/>
              </a:solidFill>
              <a:prstDash val="solid"/>
            </a:ln>
          </p:spPr>
        </p:sp>
      </p:grpSp>
      <p:sp>
        <p:nvSpPr>
          <p:cNvPr id="133" name="Text-84"/>
          <p:cNvSpPr>
            <a:spLocks noGrp="1"/>
          </p:cNvSpPr>
          <p:nvPr/>
        </p:nvSpPr>
        <p:spPr>
          <a:xfrm>
            <a:off x="14634845" y="2686050"/>
            <a:ext cx="1114425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500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50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Reconstructed</a:t>
            </a:r>
            <a:endParaRPr sz="1500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  <a:p>
            <a:pPr algn="ctr">
              <a:lnSpc>
                <a:spcPct val="100000"/>
              </a:lnSpc>
              <a:buNone/>
              <a:defRPr sz="1500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50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video</a:t>
            </a:r>
            <a:endParaRPr sz="1500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134" name="Formula-85-0"/>
          <p:cNvSpPr>
            <a:spLocks noGrp="1"/>
          </p:cNvSpPr>
          <p:nvPr/>
        </p:nvSpPr>
        <p:spPr>
          <a:xfrm>
            <a:off x="14781290" y="3095625"/>
            <a:ext cx="965044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575" b="0" i="1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575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(T, H, W, 3)</a:t>
            </a:r>
            <a:endParaRPr sz="1575" b="0" i="1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136" name="Text-87"/>
          <p:cNvSpPr>
            <a:spLocks noGrp="1"/>
          </p:cNvSpPr>
          <p:nvPr/>
        </p:nvSpPr>
        <p:spPr>
          <a:xfrm>
            <a:off x="190500" y="3524250"/>
            <a:ext cx="5762625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2175" b="1" i="0">
                <a:solidFill>
                  <a:srgbClr val="000066"/>
                </a:solidFill>
                <a:latin typeface="Nimbus Roman"/>
                <a:ea typeface="Nimbus Roman"/>
                <a:cs typeface="Nimbus Roman"/>
              </a:defRPr>
            </a:pPr>
            <a:r>
              <a:rPr sz="2175" b="1" i="0">
                <a:solidFill>
                  <a:srgbClr val="000066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Restoration Modules — Details</a:t>
            </a:r>
            <a:endParaRPr sz="2175" b="1" i="0">
              <a:solidFill>
                <a:srgbClr val="000066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137" name="Line-88"/>
          <p:cNvSpPr>
            <a:spLocks noGrp="1"/>
          </p:cNvSpPr>
          <p:nvPr/>
        </p:nvSpPr>
        <p:spPr>
          <a:xfrm>
            <a:off x="190500" y="3876675"/>
            <a:ext cx="15554325" cy="95"/>
          </a:xfrm>
          <a:custGeom>
            <a:avLst/>
            <a:gdLst/>
            <a:ahLst/>
            <a:cxnLst/>
            <a:pathLst>
              <a:path w="15554325" h="95">
                <a:moveTo>
                  <a:pt x="0" y="0"/>
                </a:moveTo>
                <a:lnTo>
                  <a:pt x="15554325" y="0"/>
                </a:lnTo>
              </a:path>
            </a:pathLst>
          </a:custGeom>
          <a:noFill/>
          <a:ln w="13335">
            <a:solidFill>
              <a:srgbClr val="1769E8"/>
            </a:solidFill>
            <a:prstDash val="solid"/>
          </a:ln>
        </p:spPr>
      </p:sp>
      <p:sp>
        <p:nvSpPr>
          <p:cNvPr id="138" name="Multi-scale Error Estimator-89"/>
          <p:cNvSpPr>
            <a:spLocks noGrp="1"/>
          </p:cNvSpPr>
          <p:nvPr/>
        </p:nvSpPr>
        <p:spPr>
          <a:xfrm>
            <a:off x="3498850" y="3918585"/>
            <a:ext cx="2664000" cy="1866265"/>
          </a:xfrm>
          <a:prstGeom prst="roundRect">
            <a:avLst>
              <a:gd name="adj" fmla="val 1739"/>
            </a:avLst>
          </a:prstGeom>
          <a:gradFill>
            <a:gsLst>
              <a:gs pos="0">
                <a:srgbClr val="FCFFFF"/>
              </a:gs>
              <a:gs pos="65000">
                <a:srgbClr val="FFFFFF"/>
              </a:gs>
              <a:gs pos="100000">
                <a:srgbClr val="F8FFFF"/>
              </a:gs>
            </a:gsLst>
            <a:lin ang="5400000"/>
          </a:gradFill>
          <a:ln w="6668">
            <a:solidFill>
              <a:srgbClr val="61D9F8"/>
            </a:solidFill>
            <a:prstDash val="solid"/>
          </a:ln>
        </p:spPr>
      </p:sp>
      <p:sp>
        <p:nvSpPr>
          <p:cNvPr id="139" name="Panel-90"/>
          <p:cNvSpPr>
            <a:spLocks noGrp="1"/>
          </p:cNvSpPr>
          <p:nvPr/>
        </p:nvSpPr>
        <p:spPr>
          <a:xfrm>
            <a:off x="3561715" y="3928110"/>
            <a:ext cx="2171700" cy="314325"/>
          </a:xfrm>
          <a:prstGeom prst="roundRect">
            <a:avLst>
              <a:gd name="adj" fmla="val 9091"/>
            </a:avLst>
          </a:prstGeom>
          <a:gradFill>
            <a:gsLst>
              <a:gs pos="0">
                <a:srgbClr val="E2F8FF"/>
              </a:gs>
              <a:gs pos="100000">
                <a:srgbClr val="F9FFFF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140" name="Text-91"/>
          <p:cNvSpPr>
            <a:spLocks noGrp="1"/>
          </p:cNvSpPr>
          <p:nvPr/>
        </p:nvSpPr>
        <p:spPr>
          <a:xfrm>
            <a:off x="3609340" y="3947160"/>
            <a:ext cx="261302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15" b="1" i="0">
                <a:solidFill>
                  <a:srgbClr val="0800ED"/>
                </a:solidFill>
                <a:latin typeface="Nimbus Roman"/>
                <a:ea typeface="Nimbus Roman"/>
                <a:cs typeface="Nimbus Roman"/>
              </a:defRPr>
            </a:pPr>
            <a:r>
              <a:rPr sz="1400" b="1" i="0">
                <a:solidFill>
                  <a:srgbClr val="7030A0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Multi-scale Error Estimator</a:t>
            </a:r>
            <a:endParaRPr sz="1400" b="1" i="0">
              <a:solidFill>
                <a:srgbClr val="7030A0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grpSp>
        <p:nvGrpSpPr>
          <p:cNvPr id="936" name="Formula-92"/>
          <p:cNvGrpSpPr/>
          <p:nvPr/>
        </p:nvGrpSpPr>
        <p:grpSpPr>
          <a:xfrm>
            <a:off x="4097807" y="4328160"/>
            <a:ext cx="1405586" cy="359664"/>
            <a:chOff x="573557" y="4371975"/>
            <a:chExt cx="1405586" cy="359664"/>
          </a:xfrm>
        </p:grpSpPr>
        <p:sp>
          <p:nvSpPr>
            <p:cNvPr id="141" name="Formula-92-0"/>
            <p:cNvSpPr>
              <a:spLocks noGrp="1"/>
            </p:cNvSpPr>
            <p:nvPr/>
          </p:nvSpPr>
          <p:spPr>
            <a:xfrm>
              <a:off x="573557" y="4371975"/>
              <a:ext cx="174574" cy="3048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80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80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(z</a:t>
              </a:r>
              <a:endParaRPr sz="180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142" name="Formula-92-1"/>
            <p:cNvSpPr>
              <a:spLocks noGrp="1"/>
            </p:cNvSpPr>
            <p:nvPr/>
          </p:nvSpPr>
          <p:spPr>
            <a:xfrm>
              <a:off x="738607" y="4426839"/>
              <a:ext cx="91821" cy="3048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295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295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q</a:t>
              </a:r>
              <a:endParaRPr sz="1295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143" name="Formula-92-2"/>
            <p:cNvSpPr>
              <a:spLocks noGrp="1"/>
            </p:cNvSpPr>
            <p:nvPr/>
          </p:nvSpPr>
          <p:spPr>
            <a:xfrm>
              <a:off x="820903" y="4371975"/>
              <a:ext cx="225323" cy="3048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80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80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, c</a:t>
              </a:r>
              <a:endParaRPr sz="180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144" name="Formula-92-3"/>
            <p:cNvSpPr>
              <a:spLocks noGrp="1"/>
            </p:cNvSpPr>
            <p:nvPr/>
          </p:nvSpPr>
          <p:spPr>
            <a:xfrm>
              <a:off x="1036701" y="4426839"/>
              <a:ext cx="91821" cy="3048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295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295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q</a:t>
              </a:r>
              <a:endParaRPr sz="1295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145" name="Formula-92-4"/>
            <p:cNvSpPr>
              <a:spLocks noGrp="1"/>
            </p:cNvSpPr>
            <p:nvPr/>
          </p:nvSpPr>
          <p:spPr>
            <a:xfrm>
              <a:off x="1118997" y="4371975"/>
              <a:ext cx="860146" cy="3048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80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80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) → (p, h)</a:t>
              </a:r>
              <a:endParaRPr sz="180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</p:grpSp>
      <p:grpSp>
        <p:nvGrpSpPr>
          <p:cNvPr id="937" name="Formula-93"/>
          <p:cNvGrpSpPr/>
          <p:nvPr/>
        </p:nvGrpSpPr>
        <p:grpSpPr>
          <a:xfrm>
            <a:off x="3735969" y="4841875"/>
            <a:ext cx="166477" cy="336042"/>
            <a:chOff x="283474" y="5029200"/>
            <a:chExt cx="166477" cy="336042"/>
          </a:xfrm>
        </p:grpSpPr>
        <p:sp>
          <p:nvSpPr>
            <p:cNvPr id="146" name="Formula-93-0"/>
            <p:cNvSpPr>
              <a:spLocks noGrp="1"/>
            </p:cNvSpPr>
            <p:nvPr/>
          </p:nvSpPr>
          <p:spPr>
            <a:xfrm>
              <a:off x="283474" y="5029200"/>
              <a:ext cx="91040" cy="2857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65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65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z</a:t>
              </a:r>
              <a:endParaRPr sz="165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147" name="Formula-93-1"/>
            <p:cNvSpPr>
              <a:spLocks noGrp="1"/>
            </p:cNvSpPr>
            <p:nvPr/>
          </p:nvSpPr>
          <p:spPr>
            <a:xfrm>
              <a:off x="364988" y="5079492"/>
              <a:ext cx="84963" cy="2857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19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19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q</a:t>
              </a:r>
              <a:endParaRPr sz="119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</p:grpSp>
      <p:grpSp>
        <p:nvGrpSpPr>
          <p:cNvPr id="938" name="Formula-94"/>
          <p:cNvGrpSpPr/>
          <p:nvPr/>
        </p:nvGrpSpPr>
        <p:grpSpPr>
          <a:xfrm>
            <a:off x="3730206" y="5308600"/>
            <a:ext cx="178003" cy="336042"/>
            <a:chOff x="277711" y="5495925"/>
            <a:chExt cx="178003" cy="336042"/>
          </a:xfrm>
        </p:grpSpPr>
        <p:sp>
          <p:nvSpPr>
            <p:cNvPr id="148" name="Formula-94-0"/>
            <p:cNvSpPr>
              <a:spLocks noGrp="1"/>
            </p:cNvSpPr>
            <p:nvPr/>
          </p:nvSpPr>
          <p:spPr>
            <a:xfrm>
              <a:off x="277711" y="5495925"/>
              <a:ext cx="102565" cy="2857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65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65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c</a:t>
              </a:r>
              <a:endParaRPr sz="165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149" name="Formula-94-1"/>
            <p:cNvSpPr>
              <a:spLocks noGrp="1"/>
            </p:cNvSpPr>
            <p:nvPr/>
          </p:nvSpPr>
          <p:spPr>
            <a:xfrm>
              <a:off x="370751" y="5546217"/>
              <a:ext cx="84963" cy="2857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19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19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q</a:t>
              </a:r>
              <a:endParaRPr sz="119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</p:grpSp>
      <p:grpSp>
        <p:nvGrpSpPr>
          <p:cNvPr id="939" name="Arrow-95-group"/>
          <p:cNvGrpSpPr/>
          <p:nvPr/>
        </p:nvGrpSpPr>
        <p:grpSpPr>
          <a:xfrm>
            <a:off x="3928745" y="5005705"/>
            <a:ext cx="219076" cy="72390"/>
            <a:chOff x="476250" y="5193030"/>
            <a:chExt cx="219076" cy="72390"/>
          </a:xfrm>
        </p:grpSpPr>
        <p:sp>
          <p:nvSpPr>
            <p:cNvPr id="150" name="Arrow-95"/>
            <p:cNvSpPr>
              <a:spLocks noGrp="1"/>
            </p:cNvSpPr>
            <p:nvPr/>
          </p:nvSpPr>
          <p:spPr>
            <a:xfrm>
              <a:off x="476250" y="5229225"/>
              <a:ext cx="219075" cy="95"/>
            </a:xfrm>
            <a:custGeom>
              <a:avLst/>
              <a:gdLst/>
              <a:ahLst/>
              <a:cxnLst/>
              <a:pathLst>
                <a:path w="219075" h="9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11906">
              <a:solidFill>
                <a:srgbClr val="111111"/>
              </a:solidFill>
              <a:prstDash val="solid"/>
            </a:ln>
          </p:spPr>
        </p:sp>
        <p:sp>
          <p:nvSpPr>
            <p:cNvPr id="151" name="Arrow-95-head"/>
            <p:cNvSpPr>
              <a:spLocks noGrp="1"/>
            </p:cNvSpPr>
            <p:nvPr/>
          </p:nvSpPr>
          <p:spPr>
            <a:xfrm>
              <a:off x="623888" y="5193030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grpSp>
        <p:nvGrpSpPr>
          <p:cNvPr id="940" name="Arrow-96-group"/>
          <p:cNvGrpSpPr/>
          <p:nvPr/>
        </p:nvGrpSpPr>
        <p:grpSpPr>
          <a:xfrm>
            <a:off x="3928745" y="5405755"/>
            <a:ext cx="219076" cy="72390"/>
            <a:chOff x="476250" y="5593080"/>
            <a:chExt cx="219076" cy="72390"/>
          </a:xfrm>
        </p:grpSpPr>
        <p:sp>
          <p:nvSpPr>
            <p:cNvPr id="152" name="Arrow-96"/>
            <p:cNvSpPr>
              <a:spLocks noGrp="1"/>
            </p:cNvSpPr>
            <p:nvPr/>
          </p:nvSpPr>
          <p:spPr>
            <a:xfrm>
              <a:off x="476250" y="5629275"/>
              <a:ext cx="219075" cy="95"/>
            </a:xfrm>
            <a:custGeom>
              <a:avLst/>
              <a:gdLst/>
              <a:ahLst/>
              <a:cxnLst/>
              <a:pathLst>
                <a:path w="219075" h="9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11906">
              <a:solidFill>
                <a:srgbClr val="111111"/>
              </a:solidFill>
              <a:prstDash val="solid"/>
            </a:ln>
          </p:spPr>
        </p:sp>
        <p:sp>
          <p:nvSpPr>
            <p:cNvPr id="153" name="Arrow-96-head"/>
            <p:cNvSpPr>
              <a:spLocks noGrp="1"/>
            </p:cNvSpPr>
            <p:nvPr/>
          </p:nvSpPr>
          <p:spPr>
            <a:xfrm>
              <a:off x="623888" y="5593080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pic>
        <p:nvPicPr>
          <p:cNvPr id="605" name="图片 60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38295" y="4832350"/>
            <a:ext cx="809625" cy="781050"/>
          </a:xfrm>
          <a:prstGeom prst="rect">
            <a:avLst/>
          </a:prstGeom>
        </p:spPr>
      </p:pic>
      <p:grpSp>
        <p:nvGrpSpPr>
          <p:cNvPr id="941" name="Arrow-97-group"/>
          <p:cNvGrpSpPr/>
          <p:nvPr/>
        </p:nvGrpSpPr>
        <p:grpSpPr>
          <a:xfrm>
            <a:off x="4947920" y="4939030"/>
            <a:ext cx="266701" cy="72390"/>
            <a:chOff x="1495425" y="5126355"/>
            <a:chExt cx="266701" cy="72390"/>
          </a:xfrm>
        </p:grpSpPr>
        <p:sp>
          <p:nvSpPr>
            <p:cNvPr id="155" name="Arrow-97"/>
            <p:cNvSpPr>
              <a:spLocks noGrp="1"/>
            </p:cNvSpPr>
            <p:nvPr/>
          </p:nvSpPr>
          <p:spPr>
            <a:xfrm>
              <a:off x="1495425" y="5162550"/>
              <a:ext cx="266700" cy="95"/>
            </a:xfrm>
            <a:custGeom>
              <a:avLst/>
              <a:gdLst/>
              <a:ahLst/>
              <a:cxnLst/>
              <a:pathLst>
                <a:path w="266700" h="9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1906">
              <a:solidFill>
                <a:srgbClr val="111111"/>
              </a:solidFill>
              <a:prstDash val="solid"/>
            </a:ln>
          </p:spPr>
        </p:sp>
        <p:sp>
          <p:nvSpPr>
            <p:cNvPr id="156" name="Arrow-97-head"/>
            <p:cNvSpPr>
              <a:spLocks noGrp="1"/>
            </p:cNvSpPr>
            <p:nvPr/>
          </p:nvSpPr>
          <p:spPr>
            <a:xfrm>
              <a:off x="1690688" y="5126355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grpSp>
        <p:nvGrpSpPr>
          <p:cNvPr id="942" name="Arrow-98-group"/>
          <p:cNvGrpSpPr/>
          <p:nvPr/>
        </p:nvGrpSpPr>
        <p:grpSpPr>
          <a:xfrm>
            <a:off x="4947920" y="5396230"/>
            <a:ext cx="266701" cy="72390"/>
            <a:chOff x="1495425" y="5583555"/>
            <a:chExt cx="266701" cy="72390"/>
          </a:xfrm>
        </p:grpSpPr>
        <p:sp>
          <p:nvSpPr>
            <p:cNvPr id="157" name="Arrow-98"/>
            <p:cNvSpPr>
              <a:spLocks noGrp="1"/>
            </p:cNvSpPr>
            <p:nvPr/>
          </p:nvSpPr>
          <p:spPr>
            <a:xfrm>
              <a:off x="1495425" y="5619750"/>
              <a:ext cx="266700" cy="95"/>
            </a:xfrm>
            <a:custGeom>
              <a:avLst/>
              <a:gdLst/>
              <a:ahLst/>
              <a:cxnLst/>
              <a:pathLst>
                <a:path w="266700" h="9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1906">
              <a:solidFill>
                <a:srgbClr val="111111"/>
              </a:solidFill>
              <a:prstDash val="solid"/>
            </a:ln>
          </p:spPr>
        </p:sp>
        <p:sp>
          <p:nvSpPr>
            <p:cNvPr id="158" name="Arrow-98-head"/>
            <p:cNvSpPr>
              <a:spLocks noGrp="1"/>
            </p:cNvSpPr>
            <p:nvPr/>
          </p:nvSpPr>
          <p:spPr>
            <a:xfrm>
              <a:off x="1690688" y="5583555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pic>
        <p:nvPicPr>
          <p:cNvPr id="610" name="图片 60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05095" y="4718050"/>
            <a:ext cx="304800" cy="476250"/>
          </a:xfrm>
          <a:prstGeom prst="rect">
            <a:avLst/>
          </a:prstGeom>
        </p:spPr>
      </p:pic>
      <p:pic>
        <p:nvPicPr>
          <p:cNvPr id="611" name="图片 61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05095" y="5194300"/>
            <a:ext cx="304800" cy="476250"/>
          </a:xfrm>
          <a:prstGeom prst="rect">
            <a:avLst/>
          </a:prstGeom>
        </p:spPr>
      </p:pic>
      <p:sp>
        <p:nvSpPr>
          <p:cNvPr id="161" name="Formula-99-0"/>
          <p:cNvSpPr>
            <a:spLocks noGrp="1"/>
          </p:cNvSpPr>
          <p:nvPr/>
        </p:nvSpPr>
        <p:spPr>
          <a:xfrm>
            <a:off x="5586095" y="4756150"/>
            <a:ext cx="1143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0" i="1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65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p</a:t>
            </a:r>
            <a:endParaRPr sz="1650" b="0" i="1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162" name="Formula-100-0"/>
          <p:cNvSpPr>
            <a:spLocks noGrp="1"/>
          </p:cNvSpPr>
          <p:nvPr/>
        </p:nvSpPr>
        <p:spPr>
          <a:xfrm>
            <a:off x="5586095" y="5299075"/>
            <a:ext cx="1143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0" i="1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65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h</a:t>
            </a:r>
            <a:endParaRPr sz="1650" b="0" i="1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163" name="Strength Fusion-101"/>
          <p:cNvSpPr>
            <a:spLocks noGrp="1"/>
          </p:cNvSpPr>
          <p:nvPr/>
        </p:nvSpPr>
        <p:spPr>
          <a:xfrm>
            <a:off x="6282690" y="3937635"/>
            <a:ext cx="2664000" cy="1868170"/>
          </a:xfrm>
          <a:prstGeom prst="roundRect">
            <a:avLst>
              <a:gd name="adj" fmla="val 1860"/>
            </a:avLst>
          </a:prstGeom>
          <a:gradFill>
            <a:gsLst>
              <a:gs pos="0">
                <a:srgbClr val="FCFFFF"/>
              </a:gs>
              <a:gs pos="65000">
                <a:srgbClr val="FFFFFF"/>
              </a:gs>
              <a:gs pos="100000">
                <a:srgbClr val="F8FFFF"/>
              </a:gs>
            </a:gsLst>
            <a:lin ang="5400000"/>
          </a:gradFill>
          <a:ln w="6668">
            <a:solidFill>
              <a:srgbClr val="61D9F8"/>
            </a:solidFill>
            <a:prstDash val="solid"/>
          </a:ln>
        </p:spPr>
      </p:sp>
      <p:sp>
        <p:nvSpPr>
          <p:cNvPr id="165" name="Text-103"/>
          <p:cNvSpPr>
            <a:spLocks noGrp="1"/>
          </p:cNvSpPr>
          <p:nvPr/>
        </p:nvSpPr>
        <p:spPr>
          <a:xfrm>
            <a:off x="6270625" y="3947160"/>
            <a:ext cx="267589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90" b="1" i="0">
                <a:solidFill>
                  <a:srgbClr val="0800ED"/>
                </a:solidFill>
                <a:latin typeface="Nimbus Roman"/>
                <a:ea typeface="Nimbus Roman"/>
                <a:cs typeface="Nimbus Roman"/>
              </a:defRPr>
            </a:pPr>
            <a:r>
              <a:rPr sz="1400" b="1" i="0">
                <a:solidFill>
                  <a:srgbClr val="7030A0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Strength Fusion</a:t>
            </a:r>
            <a:endParaRPr sz="1400" b="1" i="0">
              <a:solidFill>
                <a:srgbClr val="7030A0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167" name="Formula-104-0"/>
          <p:cNvSpPr>
            <a:spLocks noGrp="1"/>
          </p:cNvSpPr>
          <p:nvPr/>
        </p:nvSpPr>
        <p:spPr>
          <a:xfrm>
            <a:off x="7053580" y="4328160"/>
            <a:ext cx="109982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800" b="0" i="1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80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(p, h, σ) → s</a:t>
            </a:r>
            <a:endParaRPr sz="1800" b="0" i="1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168" name="Formula-105-0"/>
          <p:cNvSpPr>
            <a:spLocks noGrp="1"/>
          </p:cNvSpPr>
          <p:nvPr/>
        </p:nvSpPr>
        <p:spPr>
          <a:xfrm>
            <a:off x="6684645" y="4794250"/>
            <a:ext cx="1143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0" i="1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65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p</a:t>
            </a:r>
            <a:endParaRPr sz="1650" b="0" i="1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169" name="Formula-106-0"/>
          <p:cNvSpPr>
            <a:spLocks noGrp="1"/>
          </p:cNvSpPr>
          <p:nvPr/>
        </p:nvSpPr>
        <p:spPr>
          <a:xfrm>
            <a:off x="6684645" y="5080000"/>
            <a:ext cx="1143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0" i="1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65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h</a:t>
            </a:r>
            <a:endParaRPr sz="1650" b="0" i="1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170" name="Formula-107-0"/>
          <p:cNvSpPr>
            <a:spLocks noGrp="1"/>
          </p:cNvSpPr>
          <p:nvPr/>
        </p:nvSpPr>
        <p:spPr>
          <a:xfrm>
            <a:off x="6685280" y="5293995"/>
            <a:ext cx="11303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0" i="1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65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σ</a:t>
            </a:r>
            <a:endParaRPr sz="1650" b="0" i="1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grpSp>
        <p:nvGrpSpPr>
          <p:cNvPr id="944" name="Arrow-109-group"/>
          <p:cNvGrpSpPr/>
          <p:nvPr/>
        </p:nvGrpSpPr>
        <p:grpSpPr>
          <a:xfrm rot="0">
            <a:off x="6817995" y="5196205"/>
            <a:ext cx="219075" cy="72390"/>
            <a:chOff x="2647950" y="5383530"/>
            <a:chExt cx="219076" cy="72390"/>
          </a:xfrm>
        </p:grpSpPr>
        <p:sp>
          <p:nvSpPr>
            <p:cNvPr id="173" name="Arrow-109"/>
            <p:cNvSpPr>
              <a:spLocks noGrp="1"/>
            </p:cNvSpPr>
            <p:nvPr/>
          </p:nvSpPr>
          <p:spPr>
            <a:xfrm>
              <a:off x="2647950" y="5419725"/>
              <a:ext cx="219075" cy="95"/>
            </a:xfrm>
            <a:custGeom>
              <a:avLst/>
              <a:gdLst/>
              <a:ahLst/>
              <a:cxnLst/>
              <a:pathLst>
                <a:path w="219075" h="9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11906">
              <a:solidFill>
                <a:srgbClr val="111111"/>
              </a:solidFill>
              <a:prstDash val="solid"/>
            </a:ln>
          </p:spPr>
        </p:sp>
        <p:sp>
          <p:nvSpPr>
            <p:cNvPr id="174" name="Arrow-109-head"/>
            <p:cNvSpPr>
              <a:spLocks noGrp="1"/>
            </p:cNvSpPr>
            <p:nvPr/>
          </p:nvSpPr>
          <p:spPr>
            <a:xfrm>
              <a:off x="2795588" y="5383530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sp>
        <p:nvSpPr>
          <p:cNvPr id="177" name="Normalize and scale correction-111"/>
          <p:cNvSpPr>
            <a:spLocks noGrp="1"/>
          </p:cNvSpPr>
          <p:nvPr/>
        </p:nvSpPr>
        <p:spPr>
          <a:xfrm>
            <a:off x="7046595" y="4784725"/>
            <a:ext cx="1133475" cy="914400"/>
          </a:xfrm>
          <a:prstGeom prst="roundRect">
            <a:avLst>
              <a:gd name="adj" fmla="val 4167"/>
            </a:avLst>
          </a:prstGeom>
          <a:gradFill>
            <a:gsLst>
              <a:gs pos="0">
                <a:srgbClr val="FFF6E1"/>
              </a:gs>
              <a:gs pos="100000">
                <a:srgbClr val="FFFCF5"/>
              </a:gs>
            </a:gsLst>
            <a:lin ang="5400000"/>
          </a:gradFill>
          <a:ln w="9525">
            <a:solidFill>
              <a:srgbClr val="FFAB00"/>
            </a:solidFill>
            <a:prstDash val="solid"/>
          </a:ln>
        </p:spPr>
      </p:sp>
      <p:sp>
        <p:nvSpPr>
          <p:cNvPr id="178" name="Text-112"/>
          <p:cNvSpPr>
            <a:spLocks noGrp="1"/>
          </p:cNvSpPr>
          <p:nvPr/>
        </p:nvSpPr>
        <p:spPr>
          <a:xfrm>
            <a:off x="7132320" y="5032375"/>
            <a:ext cx="9906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150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15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Normalize </a:t>
            </a:r>
            <a:r>
              <a:rPr lang="en-US" sz="115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&amp;</a:t>
            </a:r>
            <a:endParaRPr sz="1150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  <a:p>
            <a:pPr algn="ctr">
              <a:lnSpc>
                <a:spcPct val="100000"/>
              </a:lnSpc>
              <a:buNone/>
              <a:defRPr sz="1150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15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Scale Correction</a:t>
            </a:r>
            <a:endParaRPr sz="1150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pic>
        <p:nvPicPr>
          <p:cNvPr id="630" name="图片 62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32420" y="4870450"/>
            <a:ext cx="209550" cy="257175"/>
          </a:xfrm>
          <a:prstGeom prst="rect">
            <a:avLst/>
          </a:prstGeom>
        </p:spPr>
      </p:pic>
      <p:pic>
        <p:nvPicPr>
          <p:cNvPr id="633" name="图片 632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28355" y="4984750"/>
            <a:ext cx="295275" cy="504825"/>
          </a:xfrm>
          <a:prstGeom prst="rect">
            <a:avLst/>
          </a:prstGeom>
        </p:spPr>
      </p:pic>
      <p:sp>
        <p:nvSpPr>
          <p:cNvPr id="183" name="Formula-114-0"/>
          <p:cNvSpPr>
            <a:spLocks noGrp="1"/>
          </p:cNvSpPr>
          <p:nvPr/>
        </p:nvSpPr>
        <p:spPr>
          <a:xfrm>
            <a:off x="8521065" y="5461000"/>
            <a:ext cx="9080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0" i="1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65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s</a:t>
            </a:r>
            <a:endParaRPr sz="1650" b="0" i="1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216" name="Direction Adaptation-131"/>
          <p:cNvSpPr>
            <a:spLocks noGrp="1"/>
          </p:cNvSpPr>
          <p:nvPr/>
        </p:nvSpPr>
        <p:spPr>
          <a:xfrm>
            <a:off x="3505200" y="5953125"/>
            <a:ext cx="2660015" cy="1755140"/>
          </a:xfrm>
          <a:prstGeom prst="roundRect">
            <a:avLst>
              <a:gd name="adj" fmla="val 1626"/>
            </a:avLst>
          </a:prstGeom>
          <a:gradFill>
            <a:gsLst>
              <a:gs pos="0">
                <a:srgbClr val="FCFFFF"/>
              </a:gs>
              <a:gs pos="65000">
                <a:srgbClr val="FFFFFF"/>
              </a:gs>
              <a:gs pos="100000">
                <a:srgbClr val="F8FFFF"/>
              </a:gs>
            </a:gsLst>
            <a:lin ang="5400000"/>
          </a:gradFill>
          <a:ln w="6668">
            <a:solidFill>
              <a:srgbClr val="61D9F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grpSp>
        <p:nvGrpSpPr>
          <p:cNvPr id="955" name="Formula-135"/>
          <p:cNvGrpSpPr/>
          <p:nvPr/>
        </p:nvGrpSpPr>
        <p:grpSpPr>
          <a:xfrm>
            <a:off x="3961621" y="6305550"/>
            <a:ext cx="1849154" cy="390271"/>
            <a:chOff x="6904846" y="4457700"/>
            <a:chExt cx="1849154" cy="390271"/>
          </a:xfrm>
        </p:grpSpPr>
        <p:sp>
          <p:nvSpPr>
            <p:cNvPr id="220" name="Formula-135-0"/>
            <p:cNvSpPr>
              <a:spLocks noGrp="1"/>
            </p:cNvSpPr>
            <p:nvPr/>
          </p:nvSpPr>
          <p:spPr>
            <a:xfrm>
              <a:off x="6904846" y="4457700"/>
              <a:ext cx="153943" cy="2952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575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575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(z</a:t>
              </a:r>
              <a:endParaRPr sz="1575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221" name="Formula-135-1"/>
            <p:cNvSpPr>
              <a:spLocks noGrp="1"/>
            </p:cNvSpPr>
            <p:nvPr/>
          </p:nvSpPr>
          <p:spPr>
            <a:xfrm>
              <a:off x="7049264" y="4505706"/>
              <a:ext cx="81534" cy="2952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135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135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q</a:t>
              </a:r>
              <a:endParaRPr sz="1135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222" name="Formula-135-2"/>
            <p:cNvSpPr>
              <a:spLocks noGrp="1"/>
            </p:cNvSpPr>
            <p:nvPr/>
          </p:nvSpPr>
          <p:spPr>
            <a:xfrm>
              <a:off x="7121273" y="4457700"/>
              <a:ext cx="576196" cy="2952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65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575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, v, </a:t>
              </a:r>
              <a:r>
                <a:rPr sz="1575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(p,h)</a:t>
              </a:r>
              <a:endParaRPr sz="1575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224" name="Formula-135-4"/>
            <p:cNvSpPr>
              <a:spLocks noGrp="1"/>
            </p:cNvSpPr>
            <p:nvPr/>
          </p:nvSpPr>
          <p:spPr>
            <a:xfrm>
              <a:off x="7788956" y="4476750"/>
              <a:ext cx="965044" cy="2952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575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575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, </a:t>
              </a:r>
              <a:r>
                <a:rPr lang="en-US" sz="1575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   </a:t>
              </a:r>
              <a:r>
                <a:rPr sz="1575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) → d</a:t>
              </a:r>
              <a:endParaRPr sz="1575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225" name="Formula-135-5"/>
            <p:cNvSpPr>
              <a:spLocks noGrp="1"/>
            </p:cNvSpPr>
            <p:nvPr/>
          </p:nvSpPr>
          <p:spPr>
            <a:xfrm>
              <a:off x="8508890" y="4552696"/>
              <a:ext cx="81534" cy="2952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135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135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0</a:t>
              </a:r>
              <a:endParaRPr sz="1135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</p:grpSp>
      <p:grpSp>
        <p:nvGrpSpPr>
          <p:cNvPr id="956" name="Formula-136"/>
          <p:cNvGrpSpPr/>
          <p:nvPr/>
        </p:nvGrpSpPr>
        <p:grpSpPr>
          <a:xfrm>
            <a:off x="3849634" y="6675755"/>
            <a:ext cx="166477" cy="316992"/>
            <a:chOff x="6970024" y="4848225"/>
            <a:chExt cx="166477" cy="316992"/>
          </a:xfrm>
        </p:grpSpPr>
        <p:sp>
          <p:nvSpPr>
            <p:cNvPr id="226" name="Formula-136-0"/>
            <p:cNvSpPr>
              <a:spLocks noGrp="1"/>
            </p:cNvSpPr>
            <p:nvPr/>
          </p:nvSpPr>
          <p:spPr>
            <a:xfrm>
              <a:off x="6970024" y="4848225"/>
              <a:ext cx="91040" cy="266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65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65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z</a:t>
              </a:r>
              <a:endParaRPr sz="165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227" name="Formula-136-1"/>
            <p:cNvSpPr>
              <a:spLocks noGrp="1"/>
            </p:cNvSpPr>
            <p:nvPr/>
          </p:nvSpPr>
          <p:spPr>
            <a:xfrm>
              <a:off x="7051538" y="4898517"/>
              <a:ext cx="84963" cy="266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19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19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q</a:t>
              </a:r>
              <a:endParaRPr sz="119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</p:grpSp>
      <p:sp>
        <p:nvSpPr>
          <p:cNvPr id="228" name="Formula-137-0"/>
          <p:cNvSpPr>
            <a:spLocks noGrp="1"/>
          </p:cNvSpPr>
          <p:nvPr/>
        </p:nvSpPr>
        <p:spPr>
          <a:xfrm>
            <a:off x="3881590" y="6904355"/>
            <a:ext cx="10256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0" i="1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65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v</a:t>
            </a:r>
            <a:endParaRPr sz="1650" b="0" i="1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229" name="Formula-138-0"/>
          <p:cNvSpPr>
            <a:spLocks noGrp="1"/>
          </p:cNvSpPr>
          <p:nvPr/>
        </p:nvSpPr>
        <p:spPr>
          <a:xfrm>
            <a:off x="3665855" y="7102475"/>
            <a:ext cx="552450" cy="2978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0" i="1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  <a:sym typeface="+mn-ea"/>
              </a:rPr>
              <a:t> (p,h)</a:t>
            </a:r>
            <a:endParaRPr sz="1650" b="0" i="1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grpSp>
        <p:nvGrpSpPr>
          <p:cNvPr id="960" name="Arrow-143-group"/>
          <p:cNvGrpSpPr/>
          <p:nvPr/>
        </p:nvGrpSpPr>
        <p:grpSpPr>
          <a:xfrm>
            <a:off x="4137660" y="7105650"/>
            <a:ext cx="247651" cy="72390"/>
            <a:chOff x="7258050" y="5421630"/>
            <a:chExt cx="247651" cy="72390"/>
          </a:xfrm>
        </p:grpSpPr>
        <p:sp>
          <p:nvSpPr>
            <p:cNvPr id="237" name="Arrow-143"/>
            <p:cNvSpPr>
              <a:spLocks noGrp="1"/>
            </p:cNvSpPr>
            <p:nvPr/>
          </p:nvSpPr>
          <p:spPr>
            <a:xfrm>
              <a:off x="7258050" y="5457825"/>
              <a:ext cx="247650" cy="95"/>
            </a:xfrm>
            <a:custGeom>
              <a:avLst/>
              <a:gdLst/>
              <a:ahLst/>
              <a:cxnLst/>
              <a:pathLst>
                <a:path w="247650" h="9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1906">
              <a:solidFill>
                <a:srgbClr val="111111"/>
              </a:solidFill>
              <a:prstDash val="solid"/>
            </a:ln>
          </p:spPr>
        </p:sp>
        <p:sp>
          <p:nvSpPr>
            <p:cNvPr id="238" name="Arrow-143-head"/>
            <p:cNvSpPr>
              <a:spLocks noGrp="1"/>
            </p:cNvSpPr>
            <p:nvPr/>
          </p:nvSpPr>
          <p:spPr>
            <a:xfrm>
              <a:off x="7434263" y="5421630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sp>
        <p:nvSpPr>
          <p:cNvPr id="243" name="Direction adaptation convolution predictor"/>
          <p:cNvSpPr>
            <a:spLocks noGrp="1"/>
          </p:cNvSpPr>
          <p:nvPr/>
        </p:nvSpPr>
        <p:spPr>
          <a:xfrm>
            <a:off x="4395470" y="6705600"/>
            <a:ext cx="856615" cy="852170"/>
          </a:xfrm>
          <a:custGeom>
            <a:avLst/>
            <a:gdLst/>
            <a:ahLst/>
            <a:cxnLst/>
            <a:pathLst>
              <a:path w="904875" h="1019175">
                <a:moveTo>
                  <a:pt x="0" y="0"/>
                </a:moveTo>
                <a:lnTo>
                  <a:pt x="904875" y="200025"/>
                </a:lnTo>
                <a:lnTo>
                  <a:pt x="904875" y="781050"/>
                </a:lnTo>
                <a:lnTo>
                  <a:pt x="0" y="1019175"/>
                </a:lnTo>
                <a:close/>
              </a:path>
            </a:pathLst>
          </a:custGeom>
          <a:gradFill>
            <a:gsLst>
              <a:gs pos="0">
                <a:srgbClr val="B5E0FF"/>
              </a:gs>
              <a:gs pos="100000">
                <a:srgbClr val="EEF9FF"/>
              </a:gs>
            </a:gsLst>
            <a:lin ang="5400000"/>
          </a:gradFill>
          <a:ln w="10478">
            <a:solidFill>
              <a:srgbClr val="0084FF"/>
            </a:solidFill>
            <a:prstDash val="solid"/>
          </a:ln>
        </p:spPr>
      </p:sp>
      <p:sp>
        <p:nvSpPr>
          <p:cNvPr id="244" name="Text-146"/>
          <p:cNvSpPr>
            <a:spLocks noGrp="1"/>
          </p:cNvSpPr>
          <p:nvPr/>
        </p:nvSpPr>
        <p:spPr>
          <a:xfrm>
            <a:off x="4461510" y="6875145"/>
            <a:ext cx="69532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15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315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Conv</a:t>
            </a:r>
            <a:endParaRPr sz="1315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  <a:p>
            <a:pPr algn="ctr">
              <a:lnSpc>
                <a:spcPct val="100000"/>
              </a:lnSpc>
              <a:buNone/>
              <a:defRPr sz="1315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315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Predictor</a:t>
            </a:r>
            <a:endParaRPr sz="1315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pic>
        <p:nvPicPr>
          <p:cNvPr id="696" name="图片 695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85715" y="6784340"/>
            <a:ext cx="200025" cy="266700"/>
          </a:xfrm>
          <a:prstGeom prst="rect">
            <a:avLst/>
          </a:prstGeom>
        </p:spPr>
      </p:pic>
      <p:grpSp>
        <p:nvGrpSpPr>
          <p:cNvPr id="963" name="Arrow-147-group"/>
          <p:cNvGrpSpPr/>
          <p:nvPr/>
        </p:nvGrpSpPr>
        <p:grpSpPr>
          <a:xfrm>
            <a:off x="5252085" y="7124700"/>
            <a:ext cx="266701" cy="72390"/>
            <a:chOff x="8410575" y="5412105"/>
            <a:chExt cx="266701" cy="72390"/>
          </a:xfrm>
        </p:grpSpPr>
        <p:sp>
          <p:nvSpPr>
            <p:cNvPr id="246" name="Arrow-147"/>
            <p:cNvSpPr>
              <a:spLocks noGrp="1"/>
            </p:cNvSpPr>
            <p:nvPr/>
          </p:nvSpPr>
          <p:spPr>
            <a:xfrm>
              <a:off x="8410575" y="5448300"/>
              <a:ext cx="266700" cy="95"/>
            </a:xfrm>
            <a:custGeom>
              <a:avLst/>
              <a:gdLst/>
              <a:ahLst/>
              <a:cxnLst/>
              <a:pathLst>
                <a:path w="266700" h="9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1906">
              <a:solidFill>
                <a:srgbClr val="111111"/>
              </a:solidFill>
              <a:prstDash val="solid"/>
            </a:ln>
          </p:spPr>
        </p:sp>
        <p:sp>
          <p:nvSpPr>
            <p:cNvPr id="247" name="Arrow-147-head"/>
            <p:cNvSpPr>
              <a:spLocks noGrp="1"/>
            </p:cNvSpPr>
            <p:nvPr/>
          </p:nvSpPr>
          <p:spPr>
            <a:xfrm>
              <a:off x="8605838" y="5412105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pic>
        <p:nvPicPr>
          <p:cNvPr id="699" name="图片 69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18785" y="6875145"/>
            <a:ext cx="352425" cy="523875"/>
          </a:xfrm>
          <a:prstGeom prst="rect">
            <a:avLst/>
          </a:prstGeom>
        </p:spPr>
      </p:pic>
      <p:grpSp>
        <p:nvGrpSpPr>
          <p:cNvPr id="964" name="Formula-148"/>
          <p:cNvGrpSpPr/>
          <p:nvPr/>
        </p:nvGrpSpPr>
        <p:grpSpPr>
          <a:xfrm>
            <a:off x="5595366" y="7427595"/>
            <a:ext cx="189738" cy="316992"/>
            <a:chOff x="8753856" y="5715000"/>
            <a:chExt cx="189738" cy="316992"/>
          </a:xfrm>
        </p:grpSpPr>
        <p:sp>
          <p:nvSpPr>
            <p:cNvPr id="249" name="Formula-148-0"/>
            <p:cNvSpPr>
              <a:spLocks noGrp="1"/>
            </p:cNvSpPr>
            <p:nvPr/>
          </p:nvSpPr>
          <p:spPr>
            <a:xfrm>
              <a:off x="8753856" y="5715000"/>
              <a:ext cx="114300" cy="266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65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65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d</a:t>
              </a:r>
              <a:endParaRPr sz="165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250" name="Formula-148-1"/>
            <p:cNvSpPr>
              <a:spLocks noGrp="1"/>
            </p:cNvSpPr>
            <p:nvPr/>
          </p:nvSpPr>
          <p:spPr>
            <a:xfrm>
              <a:off x="8858631" y="5765292"/>
              <a:ext cx="84963" cy="266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19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19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0</a:t>
              </a:r>
              <a:endParaRPr sz="119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</p:grpSp>
      <p:sp>
        <p:nvSpPr>
          <p:cNvPr id="251" name="Base Gain Modulation-149"/>
          <p:cNvSpPr>
            <a:spLocks noGrp="1"/>
          </p:cNvSpPr>
          <p:nvPr/>
        </p:nvSpPr>
        <p:spPr>
          <a:xfrm>
            <a:off x="6285865" y="5942965"/>
            <a:ext cx="2686685" cy="1773555"/>
          </a:xfrm>
          <a:prstGeom prst="roundRect">
            <a:avLst>
              <a:gd name="adj" fmla="val 1887"/>
            </a:avLst>
          </a:prstGeom>
          <a:gradFill>
            <a:gsLst>
              <a:gs pos="0">
                <a:srgbClr val="FCFFFF"/>
              </a:gs>
              <a:gs pos="65000">
                <a:srgbClr val="FFFFFF"/>
              </a:gs>
              <a:gs pos="100000">
                <a:srgbClr val="F8FFFF"/>
              </a:gs>
            </a:gsLst>
            <a:lin ang="5400000"/>
          </a:gradFill>
          <a:ln w="6668">
            <a:solidFill>
              <a:srgbClr val="61D9F8"/>
            </a:solidFill>
            <a:prstDash val="solid"/>
          </a:ln>
        </p:spPr>
      </p:sp>
      <p:sp>
        <p:nvSpPr>
          <p:cNvPr id="252" name="Panel-150"/>
          <p:cNvSpPr>
            <a:spLocks noGrp="1"/>
          </p:cNvSpPr>
          <p:nvPr/>
        </p:nvSpPr>
        <p:spPr>
          <a:xfrm>
            <a:off x="6532880" y="5943600"/>
            <a:ext cx="2000250" cy="314325"/>
          </a:xfrm>
          <a:prstGeom prst="roundRect">
            <a:avLst>
              <a:gd name="adj" fmla="val 9091"/>
            </a:avLst>
          </a:prstGeom>
          <a:gradFill>
            <a:gsLst>
              <a:gs pos="0">
                <a:srgbClr val="E2F8FF"/>
              </a:gs>
              <a:gs pos="100000">
                <a:srgbClr val="F9FFFF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253" name="Text-151"/>
          <p:cNvSpPr>
            <a:spLocks noGrp="1"/>
          </p:cNvSpPr>
          <p:nvPr/>
        </p:nvSpPr>
        <p:spPr>
          <a:xfrm>
            <a:off x="6270625" y="5942965"/>
            <a:ext cx="2701290" cy="324000"/>
          </a:xfrm>
          <a:prstGeom prst="rect">
            <a:avLst/>
          </a:prstGeom>
          <a:solidFill>
            <a:srgbClr val="96DEB7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0800ED"/>
                </a:solidFill>
                <a:latin typeface="Nimbus Roman"/>
                <a:ea typeface="Nimbus Roman"/>
                <a:cs typeface="Nimbus Roman"/>
              </a:defRPr>
            </a:pPr>
            <a:r>
              <a:rPr sz="1350" b="1" i="0">
                <a:solidFill>
                  <a:srgbClr val="0800ED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Base Gain Modulation</a:t>
            </a:r>
            <a:endParaRPr sz="1350" b="1" i="0">
              <a:solidFill>
                <a:srgbClr val="0800ED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grpSp>
        <p:nvGrpSpPr>
          <p:cNvPr id="965" name="Formula-152"/>
          <p:cNvGrpSpPr/>
          <p:nvPr/>
        </p:nvGrpSpPr>
        <p:grpSpPr>
          <a:xfrm>
            <a:off x="6799447" y="6288405"/>
            <a:ext cx="1831353" cy="371856"/>
            <a:chOff x="9254357" y="4381500"/>
            <a:chExt cx="1831353" cy="371856"/>
          </a:xfrm>
        </p:grpSpPr>
        <p:sp>
          <p:nvSpPr>
            <p:cNvPr id="254" name="Formula-152-0"/>
            <p:cNvSpPr>
              <a:spLocks noGrp="1"/>
            </p:cNvSpPr>
            <p:nvPr/>
          </p:nvSpPr>
          <p:spPr>
            <a:xfrm>
              <a:off x="9254357" y="4381500"/>
              <a:ext cx="153943" cy="323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575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575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(z</a:t>
              </a:r>
              <a:endParaRPr sz="1575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255" name="Formula-152-1"/>
            <p:cNvSpPr>
              <a:spLocks noGrp="1"/>
            </p:cNvSpPr>
            <p:nvPr/>
          </p:nvSpPr>
          <p:spPr>
            <a:xfrm>
              <a:off x="9398775" y="4429506"/>
              <a:ext cx="81534" cy="323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135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135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q</a:t>
              </a:r>
              <a:endParaRPr sz="1135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256" name="Formula-152-2"/>
            <p:cNvSpPr>
              <a:spLocks noGrp="1"/>
            </p:cNvSpPr>
            <p:nvPr/>
          </p:nvSpPr>
          <p:spPr>
            <a:xfrm>
              <a:off x="9470784" y="4381500"/>
              <a:ext cx="209550" cy="323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575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575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, d</a:t>
              </a:r>
              <a:endParaRPr sz="1575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257" name="Formula-152-3"/>
            <p:cNvSpPr>
              <a:spLocks noGrp="1"/>
            </p:cNvSpPr>
            <p:nvPr/>
          </p:nvSpPr>
          <p:spPr>
            <a:xfrm>
              <a:off x="9670809" y="4429506"/>
              <a:ext cx="81534" cy="323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135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135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0</a:t>
              </a:r>
              <a:endParaRPr sz="1135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258" name="Formula-152-4"/>
            <p:cNvSpPr>
              <a:spLocks noGrp="1"/>
            </p:cNvSpPr>
            <p:nvPr/>
          </p:nvSpPr>
          <p:spPr>
            <a:xfrm>
              <a:off x="9742818" y="4381500"/>
              <a:ext cx="1342892" cy="323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575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575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, p, s, </a:t>
              </a:r>
              <a:r>
                <a:rPr lang="en-US" sz="1575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    </a:t>
              </a:r>
              <a:r>
                <a:rPr sz="1575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) → u</a:t>
              </a:r>
              <a:endParaRPr sz="1575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259" name="Formula-152-5"/>
            <p:cNvSpPr>
              <a:spLocks noGrp="1"/>
            </p:cNvSpPr>
            <p:nvPr/>
          </p:nvSpPr>
          <p:spPr>
            <a:xfrm>
              <a:off x="10900924" y="4424426"/>
              <a:ext cx="81534" cy="3238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135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135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0</a:t>
              </a:r>
              <a:endParaRPr sz="1135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</p:grpSp>
      <p:grpSp>
        <p:nvGrpSpPr>
          <p:cNvPr id="966" name="Formula-153"/>
          <p:cNvGrpSpPr/>
          <p:nvPr/>
        </p:nvGrpSpPr>
        <p:grpSpPr>
          <a:xfrm>
            <a:off x="6735709" y="6532880"/>
            <a:ext cx="166477" cy="316992"/>
            <a:chOff x="9332224" y="4848225"/>
            <a:chExt cx="166477" cy="316992"/>
          </a:xfrm>
        </p:grpSpPr>
        <p:sp>
          <p:nvSpPr>
            <p:cNvPr id="260" name="Formula-153-0"/>
            <p:cNvSpPr>
              <a:spLocks noGrp="1"/>
            </p:cNvSpPr>
            <p:nvPr/>
          </p:nvSpPr>
          <p:spPr>
            <a:xfrm>
              <a:off x="9332224" y="4848225"/>
              <a:ext cx="91040" cy="266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65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65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z</a:t>
              </a:r>
              <a:endParaRPr sz="165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261" name="Formula-153-1"/>
            <p:cNvSpPr>
              <a:spLocks noGrp="1"/>
            </p:cNvSpPr>
            <p:nvPr/>
          </p:nvSpPr>
          <p:spPr>
            <a:xfrm>
              <a:off x="9413738" y="4898517"/>
              <a:ext cx="84963" cy="266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19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19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q</a:t>
              </a:r>
              <a:endParaRPr sz="119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</p:grpSp>
      <p:grpSp>
        <p:nvGrpSpPr>
          <p:cNvPr id="967" name="Formula-154"/>
          <p:cNvGrpSpPr/>
          <p:nvPr/>
        </p:nvGrpSpPr>
        <p:grpSpPr>
          <a:xfrm>
            <a:off x="6724079" y="6751955"/>
            <a:ext cx="189738" cy="316992"/>
            <a:chOff x="9320594" y="5067300"/>
            <a:chExt cx="189738" cy="316992"/>
          </a:xfrm>
        </p:grpSpPr>
        <p:sp>
          <p:nvSpPr>
            <p:cNvPr id="262" name="Formula-154-0"/>
            <p:cNvSpPr>
              <a:spLocks noGrp="1"/>
            </p:cNvSpPr>
            <p:nvPr/>
          </p:nvSpPr>
          <p:spPr>
            <a:xfrm>
              <a:off x="9320594" y="5067300"/>
              <a:ext cx="114300" cy="266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65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65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d</a:t>
              </a:r>
              <a:endParaRPr sz="165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263" name="Formula-154-1"/>
            <p:cNvSpPr>
              <a:spLocks noGrp="1"/>
            </p:cNvSpPr>
            <p:nvPr/>
          </p:nvSpPr>
          <p:spPr>
            <a:xfrm>
              <a:off x="9425369" y="5117592"/>
              <a:ext cx="84963" cy="266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19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19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0</a:t>
              </a:r>
              <a:endParaRPr sz="119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</p:grpSp>
      <p:sp>
        <p:nvSpPr>
          <p:cNvPr id="264" name="Formula-155-0"/>
          <p:cNvSpPr>
            <a:spLocks noGrp="1"/>
          </p:cNvSpPr>
          <p:nvPr/>
        </p:nvSpPr>
        <p:spPr>
          <a:xfrm>
            <a:off x="6761798" y="6980555"/>
            <a:ext cx="1143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0" i="1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65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p</a:t>
            </a:r>
            <a:endParaRPr sz="1650" b="0" i="1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265" name="Formula-156-0"/>
          <p:cNvSpPr>
            <a:spLocks noGrp="1"/>
          </p:cNvSpPr>
          <p:nvPr/>
        </p:nvSpPr>
        <p:spPr>
          <a:xfrm>
            <a:off x="6773428" y="7199630"/>
            <a:ext cx="9104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0" i="1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65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s</a:t>
            </a:r>
            <a:endParaRPr sz="1650" b="0" i="1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grpSp>
        <p:nvGrpSpPr>
          <p:cNvPr id="969" name="Arrow-159-group"/>
          <p:cNvGrpSpPr/>
          <p:nvPr/>
        </p:nvGrpSpPr>
        <p:grpSpPr>
          <a:xfrm>
            <a:off x="6976110" y="7112000"/>
            <a:ext cx="228601" cy="72390"/>
            <a:chOff x="9572625" y="5212080"/>
            <a:chExt cx="228601" cy="72390"/>
          </a:xfrm>
        </p:grpSpPr>
        <p:sp>
          <p:nvSpPr>
            <p:cNvPr id="269" name="Arrow-159"/>
            <p:cNvSpPr>
              <a:spLocks noGrp="1"/>
            </p:cNvSpPr>
            <p:nvPr/>
          </p:nvSpPr>
          <p:spPr>
            <a:xfrm>
              <a:off x="9572625" y="5248275"/>
              <a:ext cx="228600" cy="95"/>
            </a:xfrm>
            <a:custGeom>
              <a:avLst/>
              <a:gdLst/>
              <a:ahLst/>
              <a:cxnLst/>
              <a:pathLst>
                <a:path w="228600" h="9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1906">
              <a:solidFill>
                <a:srgbClr val="111111"/>
              </a:solidFill>
              <a:prstDash val="solid"/>
            </a:ln>
          </p:spPr>
        </p:sp>
        <p:sp>
          <p:nvSpPr>
            <p:cNvPr id="270" name="Arrow-159-head"/>
            <p:cNvSpPr>
              <a:spLocks noGrp="1"/>
            </p:cNvSpPr>
            <p:nvPr/>
          </p:nvSpPr>
          <p:spPr>
            <a:xfrm>
              <a:off x="9729788" y="5212080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grpSp>
        <p:nvGrpSpPr>
          <p:cNvPr id="973" name="Arrow-164-group"/>
          <p:cNvGrpSpPr/>
          <p:nvPr/>
        </p:nvGrpSpPr>
        <p:grpSpPr>
          <a:xfrm>
            <a:off x="8068310" y="7094855"/>
            <a:ext cx="247651" cy="72390"/>
            <a:chOff x="10572750" y="5412105"/>
            <a:chExt cx="247651" cy="72390"/>
          </a:xfrm>
        </p:grpSpPr>
        <p:sp>
          <p:nvSpPr>
            <p:cNvPr id="280" name="Arrow-164"/>
            <p:cNvSpPr>
              <a:spLocks noGrp="1"/>
            </p:cNvSpPr>
            <p:nvPr/>
          </p:nvSpPr>
          <p:spPr>
            <a:xfrm>
              <a:off x="10572750" y="5448300"/>
              <a:ext cx="247650" cy="95"/>
            </a:xfrm>
            <a:custGeom>
              <a:avLst/>
              <a:gdLst/>
              <a:ahLst/>
              <a:cxnLst/>
              <a:pathLst>
                <a:path w="247650" h="9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1906">
              <a:solidFill>
                <a:srgbClr val="111111"/>
              </a:solidFill>
              <a:prstDash val="solid"/>
            </a:ln>
          </p:spPr>
        </p:sp>
        <p:sp>
          <p:nvSpPr>
            <p:cNvPr id="281" name="Arrow-164-head"/>
            <p:cNvSpPr>
              <a:spLocks noGrp="1"/>
            </p:cNvSpPr>
            <p:nvPr/>
          </p:nvSpPr>
          <p:spPr>
            <a:xfrm>
              <a:off x="10748963" y="5412105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pic>
        <p:nvPicPr>
          <p:cNvPr id="733" name="图片 73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68665" y="6845300"/>
            <a:ext cx="342900" cy="523875"/>
          </a:xfrm>
          <a:prstGeom prst="rect">
            <a:avLst/>
          </a:prstGeom>
        </p:spPr>
      </p:pic>
      <p:grpSp>
        <p:nvGrpSpPr>
          <p:cNvPr id="974" name="Formula-165"/>
          <p:cNvGrpSpPr/>
          <p:nvPr/>
        </p:nvGrpSpPr>
        <p:grpSpPr>
          <a:xfrm>
            <a:off x="8450009" y="7397750"/>
            <a:ext cx="189738" cy="307467"/>
            <a:chOff x="10882694" y="5715000"/>
            <a:chExt cx="189738" cy="307467"/>
          </a:xfrm>
        </p:grpSpPr>
        <p:sp>
          <p:nvSpPr>
            <p:cNvPr id="283" name="Formula-165-0"/>
            <p:cNvSpPr>
              <a:spLocks noGrp="1"/>
            </p:cNvSpPr>
            <p:nvPr/>
          </p:nvSpPr>
          <p:spPr>
            <a:xfrm>
              <a:off x="10882694" y="5715000"/>
              <a:ext cx="114300" cy="2571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65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65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u</a:t>
              </a:r>
              <a:endParaRPr sz="165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284" name="Formula-165-1"/>
            <p:cNvSpPr>
              <a:spLocks noGrp="1"/>
            </p:cNvSpPr>
            <p:nvPr/>
          </p:nvSpPr>
          <p:spPr>
            <a:xfrm>
              <a:off x="10987469" y="5765292"/>
              <a:ext cx="84963" cy="2571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19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19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0</a:t>
              </a:r>
              <a:endParaRPr sz="119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</p:grpSp>
      <p:sp>
        <p:nvSpPr>
          <p:cNvPr id="285" name="Decoder-visible conditions-166"/>
          <p:cNvSpPr>
            <a:spLocks noGrp="1"/>
          </p:cNvSpPr>
          <p:nvPr/>
        </p:nvSpPr>
        <p:spPr>
          <a:xfrm>
            <a:off x="171450" y="5951220"/>
            <a:ext cx="3253740" cy="175641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6191">
            <a:solidFill>
              <a:srgbClr val="648BD0"/>
            </a:solidFill>
            <a:prstDash val="dot"/>
          </a:ln>
        </p:spPr>
      </p:sp>
      <p:sp>
        <p:nvSpPr>
          <p:cNvPr id="286" name="Text-167"/>
          <p:cNvSpPr>
            <a:spLocks noGrp="1"/>
          </p:cNvSpPr>
          <p:nvPr/>
        </p:nvSpPr>
        <p:spPr>
          <a:xfrm>
            <a:off x="208280" y="5951220"/>
            <a:ext cx="3216910" cy="314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0800ED"/>
                </a:solidFill>
                <a:latin typeface="Nimbus Roman"/>
                <a:ea typeface="Nimbus Roman"/>
                <a:cs typeface="Nimbus Roman"/>
              </a:defRPr>
            </a:pPr>
            <a:r>
              <a:rPr sz="1400" b="1" i="0">
                <a:solidFill>
                  <a:srgbClr val="7030A0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Decoder</a:t>
            </a:r>
            <a:r>
              <a:rPr lang="en-US" sz="1400" b="1" i="0">
                <a:solidFill>
                  <a:srgbClr val="7030A0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 </a:t>
            </a:r>
            <a:r>
              <a:rPr sz="1400" b="1" i="0">
                <a:solidFill>
                  <a:srgbClr val="7030A0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conditions</a:t>
            </a:r>
            <a:endParaRPr sz="1400" b="1" i="0">
              <a:solidFill>
                <a:srgbClr val="7030A0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289" name="Entropy scale-169"/>
          <p:cNvSpPr>
            <a:spLocks noGrp="1"/>
          </p:cNvSpPr>
          <p:nvPr/>
        </p:nvSpPr>
        <p:spPr>
          <a:xfrm>
            <a:off x="238760" y="6657975"/>
            <a:ext cx="1319530" cy="425450"/>
          </a:xfrm>
          <a:prstGeom prst="roundRect">
            <a:avLst>
              <a:gd name="adj" fmla="val 4651"/>
            </a:avLst>
          </a:prstGeom>
          <a:gradFill>
            <a:gsLst>
              <a:gs pos="0">
                <a:srgbClr val="F0F0F0"/>
              </a:gs>
              <a:gs pos="100000">
                <a:srgbClr val="F9F9F9"/>
              </a:gs>
            </a:gsLst>
            <a:lin ang="5400000"/>
          </a:gradFill>
          <a:ln w="6668">
            <a:solidFill>
              <a:srgbClr val="D5D5D5"/>
            </a:solidFill>
            <a:prstDash val="solid"/>
          </a:ln>
        </p:spPr>
      </p:sp>
      <p:sp>
        <p:nvSpPr>
          <p:cNvPr id="290" name="Text-170"/>
          <p:cNvSpPr>
            <a:spLocks noGrp="1"/>
          </p:cNvSpPr>
          <p:nvPr/>
        </p:nvSpPr>
        <p:spPr>
          <a:xfrm>
            <a:off x="238760" y="6657975"/>
            <a:ext cx="1158240" cy="425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90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40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Entropy</a:t>
            </a:r>
            <a:r>
              <a:rPr lang="en-US" sz="140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 </a:t>
            </a:r>
            <a:r>
              <a:rPr sz="140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scale</a:t>
            </a:r>
            <a:endParaRPr sz="1400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291" name="Formula-171-0"/>
          <p:cNvSpPr>
            <a:spLocks noGrp="1"/>
          </p:cNvSpPr>
          <p:nvPr/>
        </p:nvSpPr>
        <p:spPr>
          <a:xfrm>
            <a:off x="1368425" y="6751320"/>
            <a:ext cx="108585" cy="212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725" b="0" i="1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40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σ</a:t>
            </a:r>
            <a:endParaRPr sz="1400" b="0" i="1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292" name="Regional quantization width-172"/>
          <p:cNvSpPr>
            <a:spLocks noGrp="1"/>
          </p:cNvSpPr>
          <p:nvPr/>
        </p:nvSpPr>
        <p:spPr>
          <a:xfrm>
            <a:off x="1603375" y="6657975"/>
            <a:ext cx="1688465" cy="425450"/>
          </a:xfrm>
          <a:prstGeom prst="roundRect">
            <a:avLst>
              <a:gd name="adj" fmla="val 4211"/>
            </a:avLst>
          </a:prstGeom>
          <a:gradFill>
            <a:gsLst>
              <a:gs pos="0">
                <a:srgbClr val="D4EDFF"/>
              </a:gs>
              <a:gs pos="100000">
                <a:srgbClr val="E6F7FF"/>
              </a:gs>
            </a:gsLst>
            <a:lin ang="5400000"/>
          </a:gradFill>
          <a:ln w="6668">
            <a:solidFill>
              <a:srgbClr val="6DCAFF"/>
            </a:solidFill>
            <a:prstDash val="solid"/>
          </a:ln>
        </p:spPr>
      </p:sp>
      <p:sp>
        <p:nvSpPr>
          <p:cNvPr id="293" name="Text-173"/>
          <p:cNvSpPr>
            <a:spLocks noGrp="1"/>
          </p:cNvSpPr>
          <p:nvPr/>
        </p:nvSpPr>
        <p:spPr>
          <a:xfrm>
            <a:off x="1679575" y="6657975"/>
            <a:ext cx="1320165" cy="425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90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40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Regional</a:t>
            </a:r>
            <a:r>
              <a:rPr lang="en-US" sz="140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 QP </a:t>
            </a:r>
            <a:r>
              <a:rPr sz="140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width</a:t>
            </a:r>
            <a:endParaRPr sz="1400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294" name="Formula-174-0"/>
          <p:cNvSpPr>
            <a:spLocks noGrp="1"/>
          </p:cNvSpPr>
          <p:nvPr/>
        </p:nvSpPr>
        <p:spPr>
          <a:xfrm>
            <a:off x="3070225" y="6657975"/>
            <a:ext cx="144145" cy="3829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725" b="0" i="1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40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w</a:t>
            </a:r>
            <a:endParaRPr sz="1400" b="0" i="1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295" name="QP-175"/>
          <p:cNvSpPr>
            <a:spLocks noGrp="1"/>
          </p:cNvSpPr>
          <p:nvPr/>
        </p:nvSpPr>
        <p:spPr>
          <a:xfrm>
            <a:off x="238760" y="7167245"/>
            <a:ext cx="1321435" cy="425450"/>
          </a:xfrm>
          <a:prstGeom prst="roundRect">
            <a:avLst>
              <a:gd name="adj" fmla="val 5556"/>
            </a:avLst>
          </a:prstGeom>
          <a:gradFill>
            <a:gsLst>
              <a:gs pos="0">
                <a:srgbClr val="FFF2D6"/>
              </a:gs>
              <a:gs pos="100000">
                <a:srgbClr val="FFF9E9"/>
              </a:gs>
            </a:gsLst>
            <a:lin ang="5400000"/>
          </a:gradFill>
          <a:ln w="6668">
            <a:solidFill>
              <a:srgbClr val="FFD275"/>
            </a:solidFill>
            <a:prstDash val="solid"/>
          </a:ln>
        </p:spPr>
      </p:sp>
      <p:sp>
        <p:nvSpPr>
          <p:cNvPr id="296" name="Text-176"/>
          <p:cNvSpPr>
            <a:spLocks noGrp="1"/>
          </p:cNvSpPr>
          <p:nvPr/>
        </p:nvSpPr>
        <p:spPr>
          <a:xfrm>
            <a:off x="591820" y="7242810"/>
            <a:ext cx="561975" cy="29273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40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QP</a:t>
            </a:r>
            <a:r>
              <a:rPr lang="en-US" sz="140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 set</a:t>
            </a:r>
            <a:endParaRPr lang="en-US" sz="1400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297" name="Formula-177-0"/>
          <p:cNvSpPr>
            <a:spLocks noGrp="1"/>
          </p:cNvSpPr>
          <p:nvPr/>
        </p:nvSpPr>
        <p:spPr>
          <a:xfrm>
            <a:off x="1348740" y="7220585"/>
            <a:ext cx="119380" cy="3378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725" b="0" i="1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40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q</a:t>
            </a:r>
            <a:endParaRPr sz="1400" b="0" i="1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298" name="Latent frame role-178"/>
          <p:cNvSpPr>
            <a:spLocks noGrp="1"/>
          </p:cNvSpPr>
          <p:nvPr/>
        </p:nvSpPr>
        <p:spPr>
          <a:xfrm>
            <a:off x="1603375" y="7165340"/>
            <a:ext cx="1692275" cy="425450"/>
          </a:xfrm>
          <a:prstGeom prst="roundRect">
            <a:avLst>
              <a:gd name="adj" fmla="val 4211"/>
            </a:avLst>
          </a:prstGeom>
          <a:gradFill>
            <a:gsLst>
              <a:gs pos="0">
                <a:srgbClr val="D8FBEA"/>
              </a:gs>
              <a:gs pos="100000">
                <a:srgbClr val="F4FFF9"/>
              </a:gs>
            </a:gsLst>
            <a:lin ang="5400000"/>
          </a:gradFill>
          <a:ln w="6668">
            <a:solidFill>
              <a:srgbClr val="62DEB2"/>
            </a:solidFill>
            <a:prstDash val="solid"/>
          </a:ln>
        </p:spPr>
      </p:sp>
      <p:sp>
        <p:nvSpPr>
          <p:cNvPr id="299" name="Text-179"/>
          <p:cNvSpPr>
            <a:spLocks noGrp="1"/>
          </p:cNvSpPr>
          <p:nvPr/>
        </p:nvSpPr>
        <p:spPr>
          <a:xfrm>
            <a:off x="1603375" y="7159625"/>
            <a:ext cx="1238250" cy="425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lang="en-US" sz="140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F</a:t>
            </a:r>
            <a:r>
              <a:rPr sz="140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rame</a:t>
            </a:r>
            <a:r>
              <a:rPr lang="en-US" sz="140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 </a:t>
            </a:r>
            <a:r>
              <a:rPr sz="1400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role</a:t>
            </a:r>
            <a:endParaRPr sz="1400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300" name="Formula-180-0"/>
          <p:cNvSpPr>
            <a:spLocks noGrp="1"/>
          </p:cNvSpPr>
          <p:nvPr/>
        </p:nvSpPr>
        <p:spPr>
          <a:xfrm>
            <a:off x="2896870" y="7221220"/>
            <a:ext cx="386715" cy="314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725" b="0" i="1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40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I / P</a:t>
            </a:r>
            <a:endParaRPr sz="1400" b="0" i="1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grpSp>
        <p:nvGrpSpPr>
          <p:cNvPr id="976" name="Formula-181"/>
          <p:cNvGrpSpPr/>
          <p:nvPr/>
        </p:nvGrpSpPr>
        <p:grpSpPr>
          <a:xfrm rot="0">
            <a:off x="1122045" y="6209665"/>
            <a:ext cx="1530350" cy="360045"/>
            <a:chOff x="4358335" y="6991350"/>
            <a:chExt cx="1530327" cy="305021"/>
          </a:xfrm>
        </p:grpSpPr>
        <p:sp>
          <p:nvSpPr>
            <p:cNvPr id="301" name="Formula-181-0"/>
            <p:cNvSpPr>
              <a:spLocks noGrp="1"/>
            </p:cNvSpPr>
            <p:nvPr/>
          </p:nvSpPr>
          <p:spPr>
            <a:xfrm>
              <a:off x="4358335" y="6991350"/>
              <a:ext cx="111023" cy="2952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80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40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c</a:t>
              </a:r>
              <a:endParaRPr sz="140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302" name="Formula-181-1"/>
            <p:cNvSpPr>
              <a:spLocks noGrp="1"/>
            </p:cNvSpPr>
            <p:nvPr/>
          </p:nvSpPr>
          <p:spPr>
            <a:xfrm>
              <a:off x="4443324" y="7001096"/>
              <a:ext cx="91821" cy="2952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295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400" b="0" i="1" baseline="-25000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q</a:t>
              </a:r>
              <a:endParaRPr sz="1400" b="0" i="1" baseline="-2500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303" name="Formula-181-2"/>
            <p:cNvSpPr>
              <a:spLocks noGrp="1"/>
            </p:cNvSpPr>
            <p:nvPr/>
          </p:nvSpPr>
          <p:spPr>
            <a:xfrm>
              <a:off x="4613601" y="6991350"/>
              <a:ext cx="1275061" cy="296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80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40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 = {σ, w, q, I/P}</a:t>
              </a:r>
              <a:endParaRPr sz="140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</p:grpSp>
      <p:sp>
        <p:nvSpPr>
          <p:cNvPr id="426" name="Figure legend-251"/>
          <p:cNvSpPr>
            <a:spLocks noGrp="1"/>
          </p:cNvSpPr>
          <p:nvPr/>
        </p:nvSpPr>
        <p:spPr>
          <a:xfrm>
            <a:off x="91440" y="8284845"/>
            <a:ext cx="15754350" cy="4953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049">
            <a:solidFill>
              <a:srgbClr val="749CED"/>
            </a:solidFill>
            <a:prstDash val="solid"/>
          </a:ln>
        </p:spPr>
      </p:sp>
      <p:pic>
        <p:nvPicPr>
          <p:cNvPr id="878" name="图片 877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95275" y="8462010"/>
            <a:ext cx="371475" cy="400050"/>
          </a:xfrm>
          <a:prstGeom prst="rect">
            <a:avLst/>
          </a:prstGeom>
        </p:spPr>
      </p:pic>
      <p:sp>
        <p:nvSpPr>
          <p:cNvPr id="428" name="Text-252"/>
          <p:cNvSpPr>
            <a:spLocks noGrp="1"/>
          </p:cNvSpPr>
          <p:nvPr/>
        </p:nvSpPr>
        <p:spPr>
          <a:xfrm>
            <a:off x="762000" y="8585835"/>
            <a:ext cx="7905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0" i="0">
                <a:solidFill>
                  <a:srgbClr val="000078"/>
                </a:solidFill>
                <a:latin typeface="Nimbus Roman"/>
                <a:ea typeface="Nimbus Roman"/>
                <a:cs typeface="Nimbus Roman"/>
              </a:defRPr>
            </a:pPr>
            <a:r>
              <a:rPr sz="900" b="0" i="0">
                <a:solidFill>
                  <a:srgbClr val="00007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Latent feature</a:t>
            </a:r>
            <a:endParaRPr sz="900" b="0" i="0">
              <a:solidFill>
                <a:srgbClr val="00007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pic>
        <p:nvPicPr>
          <p:cNvPr id="880" name="图片 879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666875" y="8462010"/>
            <a:ext cx="361950" cy="400050"/>
          </a:xfrm>
          <a:prstGeom prst="rect">
            <a:avLst/>
          </a:prstGeom>
        </p:spPr>
      </p:pic>
      <p:sp>
        <p:nvSpPr>
          <p:cNvPr id="430" name="Text-253"/>
          <p:cNvSpPr>
            <a:spLocks noGrp="1"/>
          </p:cNvSpPr>
          <p:nvPr/>
        </p:nvSpPr>
        <p:spPr>
          <a:xfrm>
            <a:off x="2076450" y="8585835"/>
            <a:ext cx="9906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0" i="0">
                <a:solidFill>
                  <a:srgbClr val="000078"/>
                </a:solidFill>
                <a:latin typeface="Nimbus Roman"/>
                <a:ea typeface="Nimbus Roman"/>
                <a:cs typeface="Nimbus Roman"/>
              </a:defRPr>
            </a:pPr>
            <a:r>
              <a:rPr sz="900" b="0" i="0">
                <a:solidFill>
                  <a:srgbClr val="00007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Intermediate tensor</a:t>
            </a:r>
            <a:endParaRPr sz="900" b="0" i="0">
              <a:solidFill>
                <a:srgbClr val="00007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pic>
        <p:nvPicPr>
          <p:cNvPr id="882" name="图片 881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162300" y="8462010"/>
            <a:ext cx="342900" cy="400050"/>
          </a:xfrm>
          <a:prstGeom prst="rect">
            <a:avLst/>
          </a:prstGeom>
        </p:spPr>
      </p:pic>
      <p:sp>
        <p:nvSpPr>
          <p:cNvPr id="432" name="Text-254"/>
          <p:cNvSpPr>
            <a:spLocks noGrp="1"/>
          </p:cNvSpPr>
          <p:nvPr/>
        </p:nvSpPr>
        <p:spPr>
          <a:xfrm>
            <a:off x="3581400" y="8585835"/>
            <a:ext cx="10287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0" i="0">
                <a:solidFill>
                  <a:srgbClr val="000078"/>
                </a:solidFill>
                <a:latin typeface="Nimbus Roman"/>
                <a:ea typeface="Nimbus Roman"/>
                <a:cs typeface="Nimbus Roman"/>
              </a:defRPr>
            </a:pPr>
            <a:r>
              <a:rPr sz="900" b="0" i="0">
                <a:solidFill>
                  <a:srgbClr val="00007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Predicted parameter</a:t>
            </a:r>
            <a:endParaRPr sz="900" b="0" i="0">
              <a:solidFill>
                <a:srgbClr val="00007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pic>
        <p:nvPicPr>
          <p:cNvPr id="884" name="图片 883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657725" y="8462010"/>
            <a:ext cx="361950" cy="400050"/>
          </a:xfrm>
          <a:prstGeom prst="rect">
            <a:avLst/>
          </a:prstGeom>
        </p:spPr>
      </p:pic>
      <p:sp>
        <p:nvSpPr>
          <p:cNvPr id="434" name="Text-255"/>
          <p:cNvSpPr>
            <a:spLocks noGrp="1"/>
          </p:cNvSpPr>
          <p:nvPr/>
        </p:nvSpPr>
        <p:spPr>
          <a:xfrm>
            <a:off x="5076825" y="8585835"/>
            <a:ext cx="6000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0" i="0">
                <a:solidFill>
                  <a:srgbClr val="000078"/>
                </a:solidFill>
                <a:latin typeface="Nimbus Roman"/>
                <a:ea typeface="Nimbus Roman"/>
                <a:cs typeface="Nimbus Roman"/>
              </a:defRPr>
            </a:pPr>
            <a:r>
              <a:rPr sz="900" b="0" i="0">
                <a:solidFill>
                  <a:srgbClr val="00007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Scalar map</a:t>
            </a:r>
            <a:endParaRPr sz="900" b="0" i="0">
              <a:solidFill>
                <a:srgbClr val="00007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grpSp>
        <p:nvGrpSpPr>
          <p:cNvPr id="1013" name="Arrow-256-group"/>
          <p:cNvGrpSpPr/>
          <p:nvPr/>
        </p:nvGrpSpPr>
        <p:grpSpPr>
          <a:xfrm>
            <a:off x="5858510" y="8644890"/>
            <a:ext cx="495301" cy="72390"/>
            <a:chOff x="5715000" y="8612505"/>
            <a:chExt cx="495301" cy="72390"/>
          </a:xfrm>
        </p:grpSpPr>
        <p:sp>
          <p:nvSpPr>
            <p:cNvPr id="435" name="Arrow-256"/>
            <p:cNvSpPr>
              <a:spLocks noGrp="1"/>
            </p:cNvSpPr>
            <p:nvPr/>
          </p:nvSpPr>
          <p:spPr>
            <a:xfrm>
              <a:off x="5715000" y="8648700"/>
              <a:ext cx="495300" cy="95"/>
            </a:xfrm>
            <a:custGeom>
              <a:avLst/>
              <a:gdLst/>
              <a:ahLst/>
              <a:cxnLst/>
              <a:pathLst>
                <a:path w="495300" h="9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10478">
              <a:solidFill>
                <a:srgbClr val="101010"/>
              </a:solidFill>
              <a:prstDash val="solid"/>
            </a:ln>
          </p:spPr>
        </p:sp>
        <p:sp>
          <p:nvSpPr>
            <p:cNvPr id="436" name="Arrow-256-head"/>
            <p:cNvSpPr>
              <a:spLocks noGrp="1"/>
            </p:cNvSpPr>
            <p:nvPr/>
          </p:nvSpPr>
          <p:spPr>
            <a:xfrm>
              <a:off x="6138863" y="8612505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01010"/>
            </a:solidFill>
            <a:ln w="0">
              <a:noFill/>
              <a:prstDash val="solid"/>
            </a:ln>
          </p:spPr>
        </p:sp>
      </p:grpSp>
      <p:sp>
        <p:nvSpPr>
          <p:cNvPr id="437" name="Text-257"/>
          <p:cNvSpPr>
            <a:spLocks noGrp="1"/>
          </p:cNvSpPr>
          <p:nvPr/>
        </p:nvSpPr>
        <p:spPr>
          <a:xfrm>
            <a:off x="6343650" y="8585835"/>
            <a:ext cx="6191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0" i="0">
                <a:solidFill>
                  <a:srgbClr val="000078"/>
                </a:solidFill>
                <a:latin typeface="Nimbus Roman"/>
                <a:ea typeface="Nimbus Roman"/>
                <a:cs typeface="Nimbus Roman"/>
              </a:defRPr>
            </a:pPr>
            <a:r>
              <a:rPr sz="900" b="0" i="0">
                <a:solidFill>
                  <a:srgbClr val="00007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Data flow</a:t>
            </a:r>
            <a:endParaRPr sz="900" b="0" i="0">
              <a:solidFill>
                <a:srgbClr val="00007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439" name="Operator-258-symbol"/>
          <p:cNvSpPr>
            <a:spLocks noGrp="1"/>
          </p:cNvSpPr>
          <p:nvPr/>
        </p:nvSpPr>
        <p:spPr>
          <a:xfrm>
            <a:off x="7105650" y="8500110"/>
            <a:ext cx="2952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2025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endParaRPr sz="2025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440" name="Text-259"/>
          <p:cNvSpPr>
            <a:spLocks noGrp="1"/>
          </p:cNvSpPr>
          <p:nvPr/>
        </p:nvSpPr>
        <p:spPr>
          <a:xfrm>
            <a:off x="7486650" y="858583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0" i="0">
                <a:solidFill>
                  <a:srgbClr val="000078"/>
                </a:solidFill>
                <a:latin typeface="Nimbus Roman"/>
                <a:ea typeface="Nimbus Roman"/>
                <a:cs typeface="Nimbus Roman"/>
              </a:defRPr>
            </a:pPr>
            <a:r>
              <a:rPr sz="900" b="0" i="0">
                <a:solidFill>
                  <a:srgbClr val="00007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Element-wise addition</a:t>
            </a:r>
            <a:endParaRPr sz="900" b="0" i="0">
              <a:solidFill>
                <a:srgbClr val="00007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grpSp>
        <p:nvGrpSpPr>
          <p:cNvPr id="1015" name="Operator-260-group"/>
          <p:cNvGrpSpPr/>
          <p:nvPr/>
        </p:nvGrpSpPr>
        <p:grpSpPr>
          <a:xfrm>
            <a:off x="8749030" y="8500110"/>
            <a:ext cx="304800" cy="314325"/>
            <a:chOff x="8677275" y="8467725"/>
            <a:chExt cx="304800" cy="314325"/>
          </a:xfrm>
        </p:grpSpPr>
        <p:sp>
          <p:nvSpPr>
            <p:cNvPr id="441" name="Operator-260"/>
            <p:cNvSpPr>
              <a:spLocks noGrp="1"/>
            </p:cNvSpPr>
            <p:nvPr/>
          </p:nvSpPr>
          <p:spPr>
            <a:xfrm>
              <a:off x="8677275" y="8477250"/>
              <a:ext cx="304800" cy="304800"/>
            </a:xfrm>
            <a:prstGeom prst="ellipse">
              <a:avLst/>
            </a:prstGeom>
            <a:solidFill>
              <a:srgbClr val="FFFFFF"/>
            </a:solidFill>
            <a:ln w="13335">
              <a:solidFill>
                <a:srgbClr val="111111"/>
              </a:solidFill>
            </a:ln>
          </p:spPr>
        </p:sp>
        <p:sp>
          <p:nvSpPr>
            <p:cNvPr id="442" name="Operator-260-symbol"/>
            <p:cNvSpPr>
              <a:spLocks noGrp="1"/>
            </p:cNvSpPr>
            <p:nvPr/>
          </p:nvSpPr>
          <p:spPr>
            <a:xfrm>
              <a:off x="8677275" y="8467725"/>
              <a:ext cx="304800" cy="3048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ctr">
                <a:lnSpc>
                  <a:spcPct val="100000"/>
                </a:lnSpc>
                <a:buNone/>
                <a:defRPr sz="2025" b="0" i="0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2025" b="0" i="0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Nimbus Roman"/>
                </a:rPr>
                <a:t>×</a:t>
              </a:r>
              <a:endParaRPr sz="2025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Nimbus Roman"/>
              </a:endParaRPr>
            </a:p>
          </p:txBody>
        </p:sp>
      </p:grpSp>
      <p:sp>
        <p:nvSpPr>
          <p:cNvPr id="443" name="Text-261"/>
          <p:cNvSpPr>
            <a:spLocks noGrp="1"/>
          </p:cNvSpPr>
          <p:nvPr/>
        </p:nvSpPr>
        <p:spPr>
          <a:xfrm>
            <a:off x="9077325" y="8585835"/>
            <a:ext cx="14478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0" i="0">
                <a:solidFill>
                  <a:srgbClr val="000078"/>
                </a:solidFill>
                <a:latin typeface="Nimbus Roman"/>
                <a:ea typeface="Nimbus Roman"/>
                <a:cs typeface="Nimbus Roman"/>
              </a:defRPr>
            </a:pPr>
            <a:r>
              <a:rPr sz="900" b="0" i="0">
                <a:solidFill>
                  <a:srgbClr val="00007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Element-wise multiplication</a:t>
            </a:r>
            <a:endParaRPr sz="900" b="0" i="0">
              <a:solidFill>
                <a:srgbClr val="00007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pic>
        <p:nvPicPr>
          <p:cNvPr id="895" name="图片 894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913110" y="8500110"/>
            <a:ext cx="333375" cy="361950"/>
          </a:xfrm>
          <a:prstGeom prst="rect">
            <a:avLst/>
          </a:prstGeom>
        </p:spPr>
      </p:pic>
      <p:sp>
        <p:nvSpPr>
          <p:cNvPr id="445" name="Text-262"/>
          <p:cNvSpPr>
            <a:spLocks noGrp="1"/>
          </p:cNvSpPr>
          <p:nvPr/>
        </p:nvSpPr>
        <p:spPr>
          <a:xfrm>
            <a:off x="11334750" y="8462010"/>
            <a:ext cx="8001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0" i="0">
                <a:solidFill>
                  <a:srgbClr val="000078"/>
                </a:solidFill>
                <a:latin typeface="Nimbus Roman"/>
                <a:ea typeface="Nimbus Roman"/>
                <a:cs typeface="Nimbus Roman"/>
              </a:defRPr>
            </a:pPr>
            <a:r>
              <a:rPr sz="900" b="0" i="0">
                <a:solidFill>
                  <a:srgbClr val="00007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Frozen module</a:t>
            </a:r>
            <a:endParaRPr sz="900" b="0" i="0">
              <a:solidFill>
                <a:srgbClr val="00007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446" name="Legend pretrained module-263"/>
          <p:cNvSpPr>
            <a:spLocks noGrp="1"/>
          </p:cNvSpPr>
          <p:nvPr/>
        </p:nvSpPr>
        <p:spPr>
          <a:xfrm>
            <a:off x="12277725" y="8258810"/>
            <a:ext cx="333375" cy="333375"/>
          </a:xfrm>
          <a:prstGeom prst="roundRect">
            <a:avLst>
              <a:gd name="adj" fmla="val 5714"/>
            </a:avLst>
          </a:prstGeom>
          <a:solidFill>
            <a:srgbClr val="DDEFFC"/>
          </a:solidFill>
          <a:ln w="8096">
            <a:solidFill>
              <a:srgbClr val="148FFB"/>
            </a:solidFill>
            <a:prstDash val="solid"/>
          </a:ln>
        </p:spPr>
      </p:sp>
      <p:sp>
        <p:nvSpPr>
          <p:cNvPr id="447" name="Text-264"/>
          <p:cNvSpPr>
            <a:spLocks noGrp="1"/>
          </p:cNvSpPr>
          <p:nvPr/>
        </p:nvSpPr>
        <p:spPr>
          <a:xfrm>
            <a:off x="12308840" y="8488680"/>
            <a:ext cx="9810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0" i="0">
                <a:solidFill>
                  <a:srgbClr val="000078"/>
                </a:solidFill>
                <a:latin typeface="Nimbus Roman"/>
                <a:ea typeface="Nimbus Roman"/>
                <a:cs typeface="Nimbus Roman"/>
              </a:defRPr>
            </a:pPr>
            <a:r>
              <a:rPr sz="900" b="0" i="0">
                <a:solidFill>
                  <a:srgbClr val="00007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Pretrained module</a:t>
            </a:r>
            <a:endParaRPr sz="900" b="0" i="0">
              <a:solidFill>
                <a:srgbClr val="00007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449" name="Text-266"/>
          <p:cNvSpPr>
            <a:spLocks noGrp="1"/>
          </p:cNvSpPr>
          <p:nvPr/>
        </p:nvSpPr>
        <p:spPr>
          <a:xfrm>
            <a:off x="13830300" y="8585835"/>
            <a:ext cx="7143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0" i="0">
                <a:solidFill>
                  <a:srgbClr val="000078"/>
                </a:solidFill>
                <a:latin typeface="Nimbus Roman"/>
                <a:ea typeface="Nimbus Roman"/>
                <a:cs typeface="Nimbus Roman"/>
              </a:defRPr>
            </a:pPr>
            <a:r>
              <a:rPr sz="900" b="0" i="0">
                <a:solidFill>
                  <a:srgbClr val="00007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New module</a:t>
            </a:r>
            <a:endParaRPr sz="900" b="0" i="0">
              <a:solidFill>
                <a:srgbClr val="00007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pic>
        <p:nvPicPr>
          <p:cNvPr id="901" name="图片 900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4573250" y="8519160"/>
            <a:ext cx="228600" cy="333375"/>
          </a:xfrm>
          <a:prstGeom prst="rect">
            <a:avLst/>
          </a:prstGeom>
        </p:spPr>
      </p:pic>
      <p:sp>
        <p:nvSpPr>
          <p:cNvPr id="451" name="Text-267"/>
          <p:cNvSpPr>
            <a:spLocks noGrp="1"/>
          </p:cNvSpPr>
          <p:nvPr/>
        </p:nvSpPr>
        <p:spPr>
          <a:xfrm>
            <a:off x="14906625" y="8585835"/>
            <a:ext cx="8667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900" b="0" i="0">
                <a:solidFill>
                  <a:srgbClr val="000078"/>
                </a:solidFill>
                <a:latin typeface="Nimbus Roman"/>
                <a:ea typeface="Nimbus Roman"/>
                <a:cs typeface="Nimbus Roman"/>
              </a:defRPr>
            </a:pPr>
            <a:r>
              <a:rPr sz="900" b="0" i="0">
                <a:solidFill>
                  <a:srgbClr val="00007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Trainable module</a:t>
            </a:r>
            <a:endParaRPr sz="900" b="0" i="0">
              <a:solidFill>
                <a:srgbClr val="00007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8375" y="1490980"/>
            <a:ext cx="339090" cy="552450"/>
          </a:xfrm>
          <a:prstGeom prst="rect">
            <a:avLst/>
          </a:prstGeom>
        </p:spPr>
      </p:pic>
      <p:grpSp>
        <p:nvGrpSpPr>
          <p:cNvPr id="59" name="Arrow-49-group"/>
          <p:cNvGrpSpPr/>
          <p:nvPr/>
        </p:nvGrpSpPr>
        <p:grpSpPr>
          <a:xfrm>
            <a:off x="10162540" y="1701800"/>
            <a:ext cx="133351" cy="72390"/>
            <a:chOff x="9725025" y="1764030"/>
            <a:chExt cx="133351" cy="72390"/>
          </a:xfrm>
        </p:grpSpPr>
        <p:sp>
          <p:nvSpPr>
            <p:cNvPr id="99" name="Arrow-49"/>
            <p:cNvSpPr>
              <a:spLocks noGrp="1"/>
            </p:cNvSpPr>
            <p:nvPr/>
          </p:nvSpPr>
          <p:spPr>
            <a:xfrm>
              <a:off x="9725025" y="1800225"/>
              <a:ext cx="133350" cy="95"/>
            </a:xfrm>
            <a:custGeom>
              <a:avLst/>
              <a:gdLst/>
              <a:ahLst/>
              <a:cxnLst/>
              <a:pathLst>
                <a:path w="133350" h="9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12859">
              <a:solidFill>
                <a:srgbClr val="111111"/>
              </a:solidFill>
              <a:prstDash val="solid"/>
            </a:ln>
          </p:spPr>
        </p:sp>
        <p:sp>
          <p:nvSpPr>
            <p:cNvPr id="105" name="Arrow-49-head"/>
            <p:cNvSpPr>
              <a:spLocks noGrp="1"/>
            </p:cNvSpPr>
            <p:nvPr/>
          </p:nvSpPr>
          <p:spPr>
            <a:xfrm>
              <a:off x="9786938" y="1764030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cxnSp>
        <p:nvCxnSpPr>
          <p:cNvPr id="124" name="肘形连接符 123"/>
          <p:cNvCxnSpPr/>
          <p:nvPr/>
        </p:nvCxnSpPr>
        <p:spPr>
          <a:xfrm flipV="1">
            <a:off x="2261870" y="1414780"/>
            <a:ext cx="369570" cy="36195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9" name="肘形连接符 128"/>
          <p:cNvCxnSpPr>
            <a:stCxn id="52" idx="2"/>
            <a:endCxn id="53" idx="0"/>
          </p:cNvCxnSpPr>
          <p:nvPr/>
        </p:nvCxnSpPr>
        <p:spPr>
          <a:xfrm rot="5400000">
            <a:off x="4374515" y="478790"/>
            <a:ext cx="419100" cy="306197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30" name="Arrow-52-group"/>
          <p:cNvGrpSpPr/>
          <p:nvPr/>
        </p:nvGrpSpPr>
        <p:grpSpPr>
          <a:xfrm>
            <a:off x="11067415" y="1687830"/>
            <a:ext cx="288000" cy="72390"/>
            <a:chOff x="12115800" y="1697355"/>
            <a:chExt cx="352426" cy="72390"/>
          </a:xfrm>
        </p:grpSpPr>
        <p:sp>
          <p:nvSpPr>
            <p:cNvPr id="154" name="Arrow-52"/>
            <p:cNvSpPr>
              <a:spLocks noGrp="1"/>
            </p:cNvSpPr>
            <p:nvPr/>
          </p:nvSpPr>
          <p:spPr>
            <a:xfrm>
              <a:off x="12115800" y="1733550"/>
              <a:ext cx="352425" cy="95"/>
            </a:xfrm>
            <a:custGeom>
              <a:avLst/>
              <a:gdLst/>
              <a:ahLst/>
              <a:cxnLst/>
              <a:pathLst>
                <a:path w="352425" h="95">
                  <a:moveTo>
                    <a:pt x="0" y="0"/>
                  </a:moveTo>
                  <a:lnTo>
                    <a:pt x="352425" y="0"/>
                  </a:lnTo>
                </a:path>
              </a:pathLst>
            </a:custGeom>
            <a:noFill/>
            <a:ln w="12859">
              <a:solidFill>
                <a:srgbClr val="111111"/>
              </a:solidFill>
              <a:prstDash val="solid"/>
            </a:ln>
          </p:spPr>
        </p:sp>
        <p:sp>
          <p:nvSpPr>
            <p:cNvPr id="159" name="Arrow-52-head"/>
            <p:cNvSpPr>
              <a:spLocks noGrp="1"/>
            </p:cNvSpPr>
            <p:nvPr/>
          </p:nvSpPr>
          <p:spPr>
            <a:xfrm>
              <a:off x="12396788" y="1697355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sp>
        <p:nvSpPr>
          <p:cNvPr id="160" name="Latent residual addition-79"/>
          <p:cNvSpPr>
            <a:spLocks noGrp="1"/>
          </p:cNvSpPr>
          <p:nvPr/>
        </p:nvSpPr>
        <p:spPr>
          <a:xfrm>
            <a:off x="7136765" y="8507095"/>
            <a:ext cx="2880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111111"/>
            </a:solidFill>
            <a:prstDash val="solid"/>
          </a:ln>
        </p:spPr>
        <p:txBody>
          <a:bodyPr lIns="0" tIns="0" rIns="0" bIns="0" anchor="ctr" anchorCtr="1"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+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4" name="Full-band RMS Estimator-115"/>
          <p:cNvSpPr>
            <a:spLocks noGrp="1"/>
          </p:cNvSpPr>
          <p:nvPr/>
        </p:nvSpPr>
        <p:spPr>
          <a:xfrm>
            <a:off x="171450" y="3928110"/>
            <a:ext cx="3254375" cy="1868805"/>
          </a:xfrm>
          <a:prstGeom prst="roundRect">
            <a:avLst>
              <a:gd name="adj" fmla="val 1709"/>
            </a:avLst>
          </a:prstGeom>
          <a:gradFill>
            <a:gsLst>
              <a:gs pos="0">
                <a:srgbClr val="FCFFFF"/>
              </a:gs>
              <a:gs pos="65000">
                <a:srgbClr val="FFFFFF"/>
              </a:gs>
              <a:gs pos="100000">
                <a:srgbClr val="F8FFFF"/>
              </a:gs>
            </a:gsLst>
            <a:lin ang="5400000"/>
          </a:gradFill>
          <a:ln w="6668">
            <a:solidFill>
              <a:srgbClr val="61D9F8"/>
            </a:solidFill>
            <a:prstDash val="solid"/>
          </a:ln>
        </p:spPr>
      </p:sp>
      <p:sp>
        <p:nvSpPr>
          <p:cNvPr id="185" name="Panel-116"/>
          <p:cNvSpPr>
            <a:spLocks noGrp="1"/>
          </p:cNvSpPr>
          <p:nvPr/>
        </p:nvSpPr>
        <p:spPr>
          <a:xfrm>
            <a:off x="228600" y="3937635"/>
            <a:ext cx="2209800" cy="314325"/>
          </a:xfrm>
          <a:prstGeom prst="roundRect">
            <a:avLst>
              <a:gd name="adj" fmla="val 9091"/>
            </a:avLst>
          </a:prstGeom>
          <a:gradFill>
            <a:gsLst>
              <a:gs pos="0">
                <a:srgbClr val="E2F8FF"/>
              </a:gs>
              <a:gs pos="100000">
                <a:srgbClr val="F9FFFF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186" name="Text-117"/>
          <p:cNvSpPr>
            <a:spLocks noGrp="1"/>
          </p:cNvSpPr>
          <p:nvPr/>
        </p:nvSpPr>
        <p:spPr>
          <a:xfrm>
            <a:off x="276225" y="3956685"/>
            <a:ext cx="309181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90" b="1" i="0">
                <a:solidFill>
                  <a:srgbClr val="0800ED"/>
                </a:solidFill>
                <a:latin typeface="Nimbus Roman"/>
                <a:ea typeface="Nimbus Roman"/>
                <a:cs typeface="Nimbus Roman"/>
              </a:defRPr>
            </a:pPr>
            <a:r>
              <a:rPr sz="1400" b="1" i="0">
                <a:solidFill>
                  <a:srgbClr val="7030A0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Full-band RMS Estimator</a:t>
            </a:r>
            <a:endParaRPr sz="1400" b="1" i="0">
              <a:solidFill>
                <a:srgbClr val="7030A0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grpSp>
        <p:nvGrpSpPr>
          <p:cNvPr id="947" name="Formula-118"/>
          <p:cNvGrpSpPr/>
          <p:nvPr/>
        </p:nvGrpSpPr>
        <p:grpSpPr>
          <a:xfrm rot="0">
            <a:off x="1313815" y="4328160"/>
            <a:ext cx="1009015" cy="368935"/>
            <a:chOff x="5115306" y="4371975"/>
            <a:chExt cx="1009132" cy="369189"/>
          </a:xfrm>
        </p:grpSpPr>
        <p:sp>
          <p:nvSpPr>
            <p:cNvPr id="187" name="Formula-118-0"/>
            <p:cNvSpPr>
              <a:spLocks noGrp="1"/>
            </p:cNvSpPr>
            <p:nvPr/>
          </p:nvSpPr>
          <p:spPr>
            <a:xfrm>
              <a:off x="5115306" y="4371975"/>
              <a:ext cx="174574" cy="3143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80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80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(z</a:t>
              </a:r>
              <a:endParaRPr sz="180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188" name="Formula-118-1"/>
            <p:cNvSpPr>
              <a:spLocks noGrp="1"/>
            </p:cNvSpPr>
            <p:nvPr/>
          </p:nvSpPr>
          <p:spPr>
            <a:xfrm>
              <a:off x="5280355" y="4426839"/>
              <a:ext cx="91821" cy="3143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295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295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q</a:t>
              </a:r>
              <a:endParaRPr sz="1295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189" name="Formula-118-2"/>
            <p:cNvSpPr>
              <a:spLocks noGrp="1"/>
            </p:cNvSpPr>
            <p:nvPr/>
          </p:nvSpPr>
          <p:spPr>
            <a:xfrm>
              <a:off x="5362651" y="4371975"/>
              <a:ext cx="225323" cy="3143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80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80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,</a:t>
              </a:r>
              <a:r>
                <a:rPr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 c</a:t>
              </a:r>
              <a:endParaRPr sz="180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190" name="Formula-118-3"/>
            <p:cNvSpPr>
              <a:spLocks noGrp="1"/>
            </p:cNvSpPr>
            <p:nvPr/>
          </p:nvSpPr>
          <p:spPr>
            <a:xfrm>
              <a:off x="5578450" y="4426839"/>
              <a:ext cx="91821" cy="3143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295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295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q</a:t>
              </a:r>
              <a:endParaRPr sz="1295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191" name="Formula-118-4"/>
            <p:cNvSpPr>
              <a:spLocks noGrp="1"/>
            </p:cNvSpPr>
            <p:nvPr/>
          </p:nvSpPr>
          <p:spPr>
            <a:xfrm>
              <a:off x="5660746" y="4371975"/>
              <a:ext cx="453923" cy="3143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80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80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) → r</a:t>
              </a:r>
              <a:endParaRPr sz="180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192" name="Formula-118-hat-5"/>
            <p:cNvSpPr>
              <a:spLocks noGrp="1"/>
            </p:cNvSpPr>
            <p:nvPr/>
          </p:nvSpPr>
          <p:spPr>
            <a:xfrm>
              <a:off x="6060430" y="4462844"/>
              <a:ext cx="64008" cy="32004"/>
            </a:xfrm>
            <a:custGeom>
              <a:avLst/>
              <a:gdLst/>
              <a:ahLst/>
              <a:cxnLst/>
              <a:pathLst>
                <a:path w="64008" h="32004">
                  <a:moveTo>
                    <a:pt x="0" y="32004"/>
                  </a:moveTo>
                  <a:lnTo>
                    <a:pt x="32004" y="0"/>
                  </a:lnTo>
                  <a:lnTo>
                    <a:pt x="64008" y="32004"/>
                  </a:lnTo>
                </a:path>
              </a:pathLst>
            </a:custGeom>
            <a:noFill/>
            <a:ln w="9049">
              <a:solidFill>
                <a:srgbClr val="080808"/>
              </a:solidFill>
              <a:prstDash val="solid"/>
            </a:ln>
          </p:spPr>
        </p:sp>
      </p:grpSp>
      <p:grpSp>
        <p:nvGrpSpPr>
          <p:cNvPr id="948" name="Formula-119"/>
          <p:cNvGrpSpPr/>
          <p:nvPr/>
        </p:nvGrpSpPr>
        <p:grpSpPr>
          <a:xfrm rot="0">
            <a:off x="1000760" y="4712970"/>
            <a:ext cx="166370" cy="326390"/>
            <a:chOff x="4631636" y="4962525"/>
            <a:chExt cx="166478" cy="326517"/>
          </a:xfrm>
        </p:grpSpPr>
        <p:sp>
          <p:nvSpPr>
            <p:cNvPr id="193" name="Formula-119-0"/>
            <p:cNvSpPr>
              <a:spLocks noGrp="1"/>
            </p:cNvSpPr>
            <p:nvPr/>
          </p:nvSpPr>
          <p:spPr>
            <a:xfrm>
              <a:off x="4631636" y="4962525"/>
              <a:ext cx="91040" cy="276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65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65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z</a:t>
              </a:r>
              <a:endParaRPr sz="165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194" name="Formula-119-1"/>
            <p:cNvSpPr>
              <a:spLocks noGrp="1"/>
            </p:cNvSpPr>
            <p:nvPr/>
          </p:nvSpPr>
          <p:spPr>
            <a:xfrm>
              <a:off x="4713151" y="5012817"/>
              <a:ext cx="84963" cy="276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19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19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q</a:t>
              </a:r>
              <a:endParaRPr sz="119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</p:grpSp>
      <p:grpSp>
        <p:nvGrpSpPr>
          <p:cNvPr id="949" name="Formula-120"/>
          <p:cNvGrpSpPr/>
          <p:nvPr/>
        </p:nvGrpSpPr>
        <p:grpSpPr>
          <a:xfrm rot="0">
            <a:off x="995045" y="5093970"/>
            <a:ext cx="177800" cy="326390"/>
            <a:chOff x="4625873" y="5343525"/>
            <a:chExt cx="178004" cy="326517"/>
          </a:xfrm>
        </p:grpSpPr>
        <p:sp>
          <p:nvSpPr>
            <p:cNvPr id="195" name="Formula-120-0"/>
            <p:cNvSpPr>
              <a:spLocks noGrp="1"/>
            </p:cNvSpPr>
            <p:nvPr/>
          </p:nvSpPr>
          <p:spPr>
            <a:xfrm>
              <a:off x="4625873" y="5343525"/>
              <a:ext cx="102565" cy="276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65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65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c</a:t>
              </a:r>
              <a:endParaRPr sz="165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196" name="Formula-120-1"/>
            <p:cNvSpPr>
              <a:spLocks noGrp="1"/>
            </p:cNvSpPr>
            <p:nvPr/>
          </p:nvSpPr>
          <p:spPr>
            <a:xfrm>
              <a:off x="4718914" y="5393817"/>
              <a:ext cx="84963" cy="276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19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19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q</a:t>
              </a:r>
              <a:endParaRPr sz="119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</p:grpSp>
      <p:grpSp>
        <p:nvGrpSpPr>
          <p:cNvPr id="950" name="Arrow-121-group"/>
          <p:cNvGrpSpPr/>
          <p:nvPr/>
        </p:nvGrpSpPr>
        <p:grpSpPr>
          <a:xfrm rot="0">
            <a:off x="1217295" y="4867275"/>
            <a:ext cx="276225" cy="72390"/>
            <a:chOff x="4848225" y="5116830"/>
            <a:chExt cx="276226" cy="72390"/>
          </a:xfrm>
        </p:grpSpPr>
        <p:sp>
          <p:nvSpPr>
            <p:cNvPr id="197" name="Arrow-121"/>
            <p:cNvSpPr>
              <a:spLocks noGrp="1"/>
            </p:cNvSpPr>
            <p:nvPr/>
          </p:nvSpPr>
          <p:spPr>
            <a:xfrm>
              <a:off x="4848225" y="5153025"/>
              <a:ext cx="276225" cy="95"/>
            </a:xfrm>
            <a:custGeom>
              <a:avLst/>
              <a:gdLst/>
              <a:ahLst/>
              <a:cxnLst/>
              <a:pathLst>
                <a:path w="276225" h="95">
                  <a:moveTo>
                    <a:pt x="0" y="0"/>
                  </a:moveTo>
                  <a:lnTo>
                    <a:pt x="276225" y="0"/>
                  </a:lnTo>
                </a:path>
              </a:pathLst>
            </a:custGeom>
            <a:noFill/>
            <a:ln w="11906">
              <a:solidFill>
                <a:srgbClr val="111111"/>
              </a:solidFill>
              <a:prstDash val="solid"/>
            </a:ln>
          </p:spPr>
        </p:sp>
        <p:sp>
          <p:nvSpPr>
            <p:cNvPr id="198" name="Arrow-121-head"/>
            <p:cNvSpPr>
              <a:spLocks noGrp="1"/>
            </p:cNvSpPr>
            <p:nvPr/>
          </p:nvSpPr>
          <p:spPr>
            <a:xfrm>
              <a:off x="5053013" y="5116830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grpSp>
        <p:nvGrpSpPr>
          <p:cNvPr id="951" name="Arrow-122-group"/>
          <p:cNvGrpSpPr/>
          <p:nvPr/>
        </p:nvGrpSpPr>
        <p:grpSpPr>
          <a:xfrm rot="0">
            <a:off x="1217295" y="5219700"/>
            <a:ext cx="276225" cy="72390"/>
            <a:chOff x="4848225" y="5469255"/>
            <a:chExt cx="276226" cy="72390"/>
          </a:xfrm>
        </p:grpSpPr>
        <p:sp>
          <p:nvSpPr>
            <p:cNvPr id="199" name="Arrow-122"/>
            <p:cNvSpPr>
              <a:spLocks noGrp="1"/>
            </p:cNvSpPr>
            <p:nvPr/>
          </p:nvSpPr>
          <p:spPr>
            <a:xfrm>
              <a:off x="4848225" y="5505450"/>
              <a:ext cx="276225" cy="95"/>
            </a:xfrm>
            <a:custGeom>
              <a:avLst/>
              <a:gdLst/>
              <a:ahLst/>
              <a:cxnLst/>
              <a:pathLst>
                <a:path w="276225" h="95">
                  <a:moveTo>
                    <a:pt x="0" y="0"/>
                  </a:moveTo>
                  <a:lnTo>
                    <a:pt x="276225" y="0"/>
                  </a:lnTo>
                </a:path>
              </a:pathLst>
            </a:custGeom>
            <a:noFill/>
            <a:ln w="11906">
              <a:solidFill>
                <a:srgbClr val="111111"/>
              </a:solidFill>
              <a:prstDash val="solid"/>
            </a:ln>
          </p:spPr>
        </p:sp>
        <p:sp>
          <p:nvSpPr>
            <p:cNvPr id="200" name="Arrow-122-head"/>
            <p:cNvSpPr>
              <a:spLocks noGrp="1"/>
            </p:cNvSpPr>
            <p:nvPr/>
          </p:nvSpPr>
          <p:spPr>
            <a:xfrm>
              <a:off x="5053013" y="5469255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sp>
        <p:nvSpPr>
          <p:cNvPr id="201" name="RMS convolution predictor"/>
          <p:cNvSpPr>
            <a:spLocks noGrp="1"/>
          </p:cNvSpPr>
          <p:nvPr/>
        </p:nvSpPr>
        <p:spPr>
          <a:xfrm>
            <a:off x="1565275" y="4775200"/>
            <a:ext cx="809625" cy="914400"/>
          </a:xfrm>
          <a:custGeom>
            <a:avLst/>
            <a:gdLst/>
            <a:ahLst/>
            <a:cxnLst/>
            <a:pathLst>
              <a:path w="809625" h="914400">
                <a:moveTo>
                  <a:pt x="0" y="0"/>
                </a:moveTo>
                <a:lnTo>
                  <a:pt x="809625" y="171450"/>
                </a:lnTo>
                <a:lnTo>
                  <a:pt x="809625" y="704850"/>
                </a:lnTo>
                <a:lnTo>
                  <a:pt x="0" y="914400"/>
                </a:lnTo>
                <a:close/>
              </a:path>
            </a:pathLst>
          </a:custGeom>
          <a:gradFill>
            <a:gsLst>
              <a:gs pos="0">
                <a:srgbClr val="B5E0FF"/>
              </a:gs>
              <a:gs pos="100000">
                <a:srgbClr val="EDF8FF"/>
              </a:gs>
            </a:gsLst>
            <a:lin ang="5400000"/>
          </a:gradFill>
          <a:ln w="10478">
            <a:solidFill>
              <a:srgbClr val="0084FF"/>
            </a:solidFill>
            <a:prstDash val="solid"/>
          </a:ln>
        </p:spPr>
      </p:sp>
      <p:sp>
        <p:nvSpPr>
          <p:cNvPr id="202" name="Text-123"/>
          <p:cNvSpPr>
            <a:spLocks noGrp="1"/>
          </p:cNvSpPr>
          <p:nvPr/>
        </p:nvSpPr>
        <p:spPr>
          <a:xfrm>
            <a:off x="1631950" y="5022850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15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315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Conv</a:t>
            </a:r>
            <a:endParaRPr sz="1315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  <a:p>
            <a:pPr algn="ctr">
              <a:lnSpc>
                <a:spcPct val="100000"/>
              </a:lnSpc>
              <a:buNone/>
              <a:defRPr sz="1315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315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Predictor</a:t>
            </a:r>
            <a:endParaRPr sz="1315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pic>
        <p:nvPicPr>
          <p:cNvPr id="654" name="图片 653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208530" y="4903470"/>
            <a:ext cx="200025" cy="266700"/>
          </a:xfrm>
          <a:prstGeom prst="rect">
            <a:avLst/>
          </a:prstGeom>
        </p:spPr>
      </p:pic>
      <p:grpSp>
        <p:nvGrpSpPr>
          <p:cNvPr id="952" name="Arrow-124-group"/>
          <p:cNvGrpSpPr/>
          <p:nvPr/>
        </p:nvGrpSpPr>
        <p:grpSpPr>
          <a:xfrm rot="0">
            <a:off x="2374900" y="5205730"/>
            <a:ext cx="219075" cy="72390"/>
            <a:chOff x="5934075" y="5383530"/>
            <a:chExt cx="219076" cy="72390"/>
          </a:xfrm>
        </p:grpSpPr>
        <p:sp>
          <p:nvSpPr>
            <p:cNvPr id="204" name="Arrow-124"/>
            <p:cNvSpPr>
              <a:spLocks noGrp="1"/>
            </p:cNvSpPr>
            <p:nvPr/>
          </p:nvSpPr>
          <p:spPr>
            <a:xfrm>
              <a:off x="5934075" y="5419725"/>
              <a:ext cx="219075" cy="95"/>
            </a:xfrm>
            <a:custGeom>
              <a:avLst/>
              <a:gdLst/>
              <a:ahLst/>
              <a:cxnLst/>
              <a:pathLst>
                <a:path w="219075" h="95">
                  <a:moveTo>
                    <a:pt x="0" y="0"/>
                  </a:moveTo>
                  <a:lnTo>
                    <a:pt x="219075" y="0"/>
                  </a:lnTo>
                </a:path>
              </a:pathLst>
            </a:custGeom>
            <a:noFill/>
            <a:ln w="11906">
              <a:solidFill>
                <a:srgbClr val="111111"/>
              </a:solidFill>
              <a:prstDash val="solid"/>
            </a:ln>
          </p:spPr>
        </p:sp>
        <p:sp>
          <p:nvSpPr>
            <p:cNvPr id="205" name="Arrow-124-head"/>
            <p:cNvSpPr>
              <a:spLocks noGrp="1"/>
            </p:cNvSpPr>
            <p:nvPr/>
          </p:nvSpPr>
          <p:spPr>
            <a:xfrm>
              <a:off x="6081713" y="5383530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pic>
        <p:nvPicPr>
          <p:cNvPr id="657" name="图片 656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593975" y="5003800"/>
            <a:ext cx="476250" cy="533400"/>
          </a:xfrm>
          <a:prstGeom prst="rect">
            <a:avLst/>
          </a:prstGeom>
        </p:spPr>
      </p:pic>
      <p:grpSp>
        <p:nvGrpSpPr>
          <p:cNvPr id="953" name="Formula-125"/>
          <p:cNvGrpSpPr/>
          <p:nvPr/>
        </p:nvGrpSpPr>
        <p:grpSpPr>
          <a:xfrm rot="0">
            <a:off x="2839085" y="4727575"/>
            <a:ext cx="99060" cy="257175"/>
            <a:chOff x="6326705" y="4905375"/>
            <a:chExt cx="99201" cy="257175"/>
          </a:xfrm>
        </p:grpSpPr>
        <p:sp>
          <p:nvSpPr>
            <p:cNvPr id="207" name="Formula-125-0"/>
            <p:cNvSpPr>
              <a:spLocks noGrp="1"/>
            </p:cNvSpPr>
            <p:nvPr/>
          </p:nvSpPr>
          <p:spPr>
            <a:xfrm>
              <a:off x="6326705" y="4905375"/>
              <a:ext cx="91040" cy="2571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65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65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r</a:t>
              </a:r>
              <a:endParaRPr sz="165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208" name="Formula-125-hat-1"/>
            <p:cNvSpPr>
              <a:spLocks noGrp="1"/>
            </p:cNvSpPr>
            <p:nvPr/>
          </p:nvSpPr>
          <p:spPr>
            <a:xfrm>
              <a:off x="6367232" y="4973193"/>
              <a:ext cx="58674" cy="29337"/>
            </a:xfrm>
            <a:custGeom>
              <a:avLst/>
              <a:gdLst/>
              <a:ahLst/>
              <a:cxnLst/>
              <a:pathLst>
                <a:path w="58674" h="29337">
                  <a:moveTo>
                    <a:pt x="0" y="29337"/>
                  </a:moveTo>
                  <a:lnTo>
                    <a:pt x="29337" y="0"/>
                  </a:lnTo>
                  <a:lnTo>
                    <a:pt x="58674" y="29337"/>
                  </a:lnTo>
                </a:path>
              </a:pathLst>
            </a:custGeom>
            <a:noFill/>
            <a:ln w="9049">
              <a:solidFill>
                <a:srgbClr val="080808"/>
              </a:solidFill>
              <a:prstDash val="solid"/>
            </a:ln>
          </p:spPr>
        </p:sp>
      </p:grpSp>
      <p:sp>
        <p:nvSpPr>
          <p:cNvPr id="209" name="Text-126"/>
          <p:cNvSpPr>
            <a:spLocks noGrp="1"/>
          </p:cNvSpPr>
          <p:nvPr/>
        </p:nvSpPr>
        <p:spPr>
          <a:xfrm>
            <a:off x="381635" y="5410200"/>
            <a:ext cx="942975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15" b="0" i="1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315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frame index</a:t>
            </a:r>
            <a:endParaRPr sz="1315" b="0" i="1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cxnSp>
        <p:nvCxnSpPr>
          <p:cNvPr id="182" name="直接箭头连接符 181"/>
          <p:cNvCxnSpPr/>
          <p:nvPr/>
        </p:nvCxnSpPr>
        <p:spPr>
          <a:xfrm rot="5400000" flipV="1">
            <a:off x="1384300" y="5498465"/>
            <a:ext cx="0" cy="21590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6" name="直接箭头连接符 205"/>
          <p:cNvCxnSpPr/>
          <p:nvPr/>
        </p:nvCxnSpPr>
        <p:spPr>
          <a:xfrm rot="5400000" flipV="1">
            <a:off x="6238630" y="5046735"/>
            <a:ext cx="0" cy="36000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5" name="Direction Adaptation-70"/>
          <p:cNvSpPr>
            <a:spLocks noGrp="1"/>
          </p:cNvSpPr>
          <p:nvPr/>
        </p:nvSpPr>
        <p:spPr>
          <a:xfrm>
            <a:off x="3505200" y="5951220"/>
            <a:ext cx="2673350" cy="324000"/>
          </a:xfrm>
          <a:prstGeom prst="roundRect">
            <a:avLst>
              <a:gd name="adj" fmla="val 3704"/>
            </a:avLst>
          </a:prstGeom>
          <a:gradFill>
            <a:gsLst>
              <a:gs pos="0">
                <a:srgbClr val="FF0000">
                  <a:alpha val="34000"/>
                </a:srgbClr>
              </a:gs>
              <a:gs pos="100000">
                <a:srgbClr val="FF0000">
                  <a:alpha val="15000"/>
                </a:srgbClr>
              </a:gs>
            </a:gsLst>
            <a:lin ang="5400000"/>
          </a:gradFill>
          <a:ln w="10478">
            <a:noFill/>
            <a:prstDash val="solid"/>
          </a:ln>
        </p:spPr>
      </p:sp>
      <p:sp>
        <p:nvSpPr>
          <p:cNvPr id="248" name="Text-167"/>
          <p:cNvSpPr>
            <a:spLocks noGrp="1"/>
          </p:cNvSpPr>
          <p:nvPr/>
        </p:nvSpPr>
        <p:spPr>
          <a:xfrm>
            <a:off x="3498850" y="5951220"/>
            <a:ext cx="266382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 i="0">
                <a:solidFill>
                  <a:srgbClr val="0800ED"/>
                </a:solidFill>
                <a:latin typeface="Nimbus Roman"/>
                <a:ea typeface="Nimbus Roman"/>
                <a:cs typeface="Nimbus Roman"/>
              </a:defRPr>
            </a:pPr>
            <a:r>
              <a:rPr sz="1425" b="1" i="0">
                <a:solidFill>
                  <a:srgbClr val="7030A0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Decoder</a:t>
            </a:r>
            <a:r>
              <a:rPr lang="en-US" sz="1425" b="1" i="0">
                <a:solidFill>
                  <a:srgbClr val="7030A0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 Adapta</a:t>
            </a:r>
            <a:r>
              <a:rPr sz="1425" b="1" i="0">
                <a:solidFill>
                  <a:srgbClr val="7030A0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tion</a:t>
            </a:r>
            <a:endParaRPr sz="1425" b="1" i="0">
              <a:solidFill>
                <a:srgbClr val="7030A0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grpSp>
        <p:nvGrpSpPr>
          <p:cNvPr id="377" name="Formula-136"/>
          <p:cNvGrpSpPr/>
          <p:nvPr/>
        </p:nvGrpSpPr>
        <p:grpSpPr>
          <a:xfrm>
            <a:off x="3859159" y="7331075"/>
            <a:ext cx="166477" cy="316992"/>
            <a:chOff x="6970024" y="4848225"/>
            <a:chExt cx="166477" cy="316992"/>
          </a:xfrm>
        </p:grpSpPr>
        <p:sp>
          <p:nvSpPr>
            <p:cNvPr id="392" name="Formula-136-0"/>
            <p:cNvSpPr>
              <a:spLocks noGrp="1"/>
            </p:cNvSpPr>
            <p:nvPr/>
          </p:nvSpPr>
          <p:spPr>
            <a:xfrm>
              <a:off x="6970024" y="4848225"/>
              <a:ext cx="91040" cy="266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65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lang="en-US" sz="165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c</a:t>
              </a:r>
              <a:endParaRPr lang="en-US" sz="165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406" name="Formula-136-1"/>
            <p:cNvSpPr>
              <a:spLocks noGrp="1"/>
            </p:cNvSpPr>
            <p:nvPr/>
          </p:nvSpPr>
          <p:spPr>
            <a:xfrm>
              <a:off x="7051538" y="4898517"/>
              <a:ext cx="84963" cy="266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19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19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q</a:t>
              </a:r>
              <a:endParaRPr sz="119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</p:grpSp>
      <p:grpSp>
        <p:nvGrpSpPr>
          <p:cNvPr id="429" name="Formula-136"/>
          <p:cNvGrpSpPr/>
          <p:nvPr/>
        </p:nvGrpSpPr>
        <p:grpSpPr>
          <a:xfrm>
            <a:off x="4910455" y="6353175"/>
            <a:ext cx="122555" cy="267335"/>
            <a:chOff x="6970024" y="4848225"/>
            <a:chExt cx="150602" cy="358267"/>
          </a:xfrm>
        </p:grpSpPr>
        <p:sp>
          <p:nvSpPr>
            <p:cNvPr id="431" name="Formula-136-0"/>
            <p:cNvSpPr>
              <a:spLocks noGrp="1"/>
            </p:cNvSpPr>
            <p:nvPr/>
          </p:nvSpPr>
          <p:spPr>
            <a:xfrm>
              <a:off x="6970024" y="4848225"/>
              <a:ext cx="91040" cy="266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65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lang="en-US" sz="165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c</a:t>
              </a:r>
              <a:endParaRPr lang="en-US" sz="165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433" name="Formula-136-1"/>
            <p:cNvSpPr>
              <a:spLocks noGrp="1"/>
            </p:cNvSpPr>
            <p:nvPr/>
          </p:nvSpPr>
          <p:spPr>
            <a:xfrm>
              <a:off x="7035663" y="4939792"/>
              <a:ext cx="84963" cy="266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19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lang="en-US" sz="119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 </a:t>
              </a:r>
              <a:r>
                <a:rPr sz="119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q</a:t>
              </a:r>
              <a:endParaRPr sz="119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</p:grpSp>
      <p:grpSp>
        <p:nvGrpSpPr>
          <p:cNvPr id="450" name="Formula-136"/>
          <p:cNvGrpSpPr/>
          <p:nvPr/>
        </p:nvGrpSpPr>
        <p:grpSpPr>
          <a:xfrm>
            <a:off x="7775839" y="6288405"/>
            <a:ext cx="175367" cy="316992"/>
            <a:chOff x="7046224" y="4848225"/>
            <a:chExt cx="175367" cy="316992"/>
          </a:xfrm>
        </p:grpSpPr>
        <p:sp>
          <p:nvSpPr>
            <p:cNvPr id="453" name="Formula-136-0"/>
            <p:cNvSpPr>
              <a:spLocks noGrp="1"/>
            </p:cNvSpPr>
            <p:nvPr/>
          </p:nvSpPr>
          <p:spPr>
            <a:xfrm>
              <a:off x="7046224" y="4848225"/>
              <a:ext cx="91040" cy="266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65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lang="en-US" sz="165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c</a:t>
              </a:r>
              <a:endParaRPr lang="en-US" sz="165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  <p:sp>
          <p:nvSpPr>
            <p:cNvPr id="454" name="Formula-136-1"/>
            <p:cNvSpPr>
              <a:spLocks noGrp="1"/>
            </p:cNvSpPr>
            <p:nvPr/>
          </p:nvSpPr>
          <p:spPr>
            <a:xfrm>
              <a:off x="7136628" y="4898517"/>
              <a:ext cx="84963" cy="266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ctr">
              <a:noAutofit/>
            </a:bodyPr>
            <a:lstStyle/>
            <a:p>
              <a:pPr algn="l">
                <a:lnSpc>
                  <a:spcPct val="100000"/>
                </a:lnSpc>
                <a:buNone/>
                <a:defRPr sz="1190" b="0" i="1">
                  <a:solidFill>
                    <a:srgbClr val="080808"/>
                  </a:solidFill>
                  <a:latin typeface="Nimbus Roman"/>
                  <a:ea typeface="Nimbus Roman"/>
                  <a:cs typeface="Nimbus Roman"/>
                </a:defRPr>
              </a:pPr>
              <a:r>
                <a:rPr sz="119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q</a:t>
              </a:r>
              <a:r>
                <a:rPr lang="en-US" sz="1190" b="0" i="1">
                  <a:solidFill>
                    <a:srgbClr val="080808"/>
                  </a:solidFill>
                  <a:latin typeface="Times New Roman" panose="02020603050405020304" charset="0"/>
                  <a:ea typeface="Nimbus Roman"/>
                  <a:cs typeface="Times New Roman" panose="02020603050405020304" charset="0"/>
                </a:rPr>
                <a:t>  </a:t>
              </a:r>
              <a:endParaRPr lang="en-US" sz="119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endParaRPr>
            </a:p>
          </p:txBody>
        </p:sp>
      </p:grpSp>
      <p:sp>
        <p:nvSpPr>
          <p:cNvPr id="448" name="Legend new module-265"/>
          <p:cNvSpPr>
            <a:spLocks noGrp="1"/>
          </p:cNvSpPr>
          <p:nvPr/>
        </p:nvSpPr>
        <p:spPr>
          <a:xfrm>
            <a:off x="13477875" y="8446770"/>
            <a:ext cx="352425" cy="333375"/>
          </a:xfrm>
          <a:prstGeom prst="roundRect">
            <a:avLst>
              <a:gd name="adj" fmla="val 5714"/>
            </a:avLst>
          </a:prstGeom>
          <a:solidFill>
            <a:srgbClr val="E3F6E9"/>
          </a:solidFill>
          <a:ln w="8096">
            <a:solidFill>
              <a:srgbClr val="22C979"/>
            </a:solidFill>
            <a:prstDash val="solid"/>
          </a:ln>
        </p:spPr>
      </p:sp>
      <p:sp>
        <p:nvSpPr>
          <p:cNvPr id="461" name="Formula-136-0"/>
          <p:cNvSpPr>
            <a:spLocks noGrp="1"/>
          </p:cNvSpPr>
          <p:nvPr/>
        </p:nvSpPr>
        <p:spPr>
          <a:xfrm>
            <a:off x="6696075" y="7369810"/>
            <a:ext cx="9080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650" b="0" i="1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lang="en-US" sz="165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c</a:t>
            </a:r>
            <a:endParaRPr lang="en-US" sz="1650" b="0" i="1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462" name="Formula-136-1"/>
          <p:cNvSpPr>
            <a:spLocks noGrp="1"/>
          </p:cNvSpPr>
          <p:nvPr/>
        </p:nvSpPr>
        <p:spPr>
          <a:xfrm>
            <a:off x="6786880" y="7419975"/>
            <a:ext cx="8509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  <a:defRPr sz="1190" b="0" i="1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19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q</a:t>
            </a:r>
            <a:r>
              <a:rPr lang="en-US" sz="1190" b="0" i="1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  </a:t>
            </a:r>
            <a:endParaRPr lang="en-US" sz="1190" b="0" i="1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sp>
        <p:nvSpPr>
          <p:cNvPr id="463" name="Direction adaptation convolution predictor"/>
          <p:cNvSpPr>
            <a:spLocks noGrp="1"/>
          </p:cNvSpPr>
          <p:nvPr/>
        </p:nvSpPr>
        <p:spPr>
          <a:xfrm>
            <a:off x="7208520" y="6675755"/>
            <a:ext cx="856615" cy="852170"/>
          </a:xfrm>
          <a:custGeom>
            <a:avLst/>
            <a:gdLst/>
            <a:ahLst/>
            <a:cxnLst/>
            <a:pathLst>
              <a:path w="904875" h="1019175">
                <a:moveTo>
                  <a:pt x="0" y="0"/>
                </a:moveTo>
                <a:lnTo>
                  <a:pt x="904875" y="200025"/>
                </a:lnTo>
                <a:lnTo>
                  <a:pt x="904875" y="781050"/>
                </a:lnTo>
                <a:lnTo>
                  <a:pt x="0" y="1019175"/>
                </a:lnTo>
                <a:close/>
              </a:path>
            </a:pathLst>
          </a:custGeom>
          <a:gradFill>
            <a:gsLst>
              <a:gs pos="0">
                <a:srgbClr val="B5E0FF"/>
              </a:gs>
              <a:gs pos="100000">
                <a:srgbClr val="EEF9FF"/>
              </a:gs>
            </a:gsLst>
            <a:lin ang="5400000"/>
          </a:gradFill>
          <a:ln w="10478">
            <a:solidFill>
              <a:srgbClr val="0084FF"/>
            </a:solidFill>
            <a:prstDash val="solid"/>
          </a:ln>
        </p:spPr>
      </p:sp>
      <p:sp>
        <p:nvSpPr>
          <p:cNvPr id="464" name="Text-146"/>
          <p:cNvSpPr>
            <a:spLocks noGrp="1"/>
          </p:cNvSpPr>
          <p:nvPr/>
        </p:nvSpPr>
        <p:spPr>
          <a:xfrm>
            <a:off x="7274560" y="6845300"/>
            <a:ext cx="69532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315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315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Conv</a:t>
            </a:r>
            <a:endParaRPr sz="1315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  <a:p>
            <a:pPr algn="ctr">
              <a:lnSpc>
                <a:spcPct val="100000"/>
              </a:lnSpc>
              <a:buNone/>
              <a:defRPr sz="1315" b="0" i="0">
                <a:solidFill>
                  <a:srgbClr val="080808"/>
                </a:solidFill>
                <a:latin typeface="Nimbus Roman"/>
                <a:ea typeface="Nimbus Roman"/>
                <a:cs typeface="Nimbus Roman"/>
              </a:defRPr>
            </a:pPr>
            <a:r>
              <a:rPr sz="1315" b="0" i="0">
                <a:solidFill>
                  <a:srgbClr val="080808"/>
                </a:solidFill>
                <a:latin typeface="Times New Roman" panose="02020603050405020304" charset="0"/>
                <a:ea typeface="Nimbus Roman"/>
                <a:cs typeface="Times New Roman" panose="02020603050405020304" charset="0"/>
              </a:rPr>
              <a:t>Predictor</a:t>
            </a:r>
            <a:endParaRPr sz="1315" b="0" i="0">
              <a:solidFill>
                <a:srgbClr val="080808"/>
              </a:solidFill>
              <a:latin typeface="Times New Roman" panose="02020603050405020304" charset="0"/>
              <a:ea typeface="Nimbus Roman"/>
              <a:cs typeface="Times New Roman" panose="02020603050405020304" charset="0"/>
            </a:endParaRPr>
          </a:p>
        </p:txBody>
      </p:sp>
      <p:pic>
        <p:nvPicPr>
          <p:cNvPr id="465" name="图片 46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98765" y="6754495"/>
            <a:ext cx="200025" cy="266700"/>
          </a:xfrm>
          <a:prstGeom prst="rect">
            <a:avLst/>
          </a:prstGeom>
        </p:spPr>
      </p:pic>
      <p:grpSp>
        <p:nvGrpSpPr>
          <p:cNvPr id="466" name="Arrow-164-group"/>
          <p:cNvGrpSpPr/>
          <p:nvPr/>
        </p:nvGrpSpPr>
        <p:grpSpPr>
          <a:xfrm>
            <a:off x="8195945" y="5219700"/>
            <a:ext cx="247651" cy="72390"/>
            <a:chOff x="10572750" y="5412105"/>
            <a:chExt cx="247651" cy="72390"/>
          </a:xfrm>
        </p:grpSpPr>
        <p:sp>
          <p:nvSpPr>
            <p:cNvPr id="467" name="Arrow-164"/>
            <p:cNvSpPr>
              <a:spLocks noGrp="1"/>
            </p:cNvSpPr>
            <p:nvPr/>
          </p:nvSpPr>
          <p:spPr>
            <a:xfrm>
              <a:off x="10572750" y="5448300"/>
              <a:ext cx="247650" cy="95"/>
            </a:xfrm>
            <a:custGeom>
              <a:avLst/>
              <a:gdLst/>
              <a:ahLst/>
              <a:cxnLst/>
              <a:pathLst>
                <a:path w="247650" h="95">
                  <a:moveTo>
                    <a:pt x="0" y="0"/>
                  </a:moveTo>
                  <a:lnTo>
                    <a:pt x="247650" y="0"/>
                  </a:lnTo>
                </a:path>
              </a:pathLst>
            </a:custGeom>
            <a:noFill/>
            <a:ln w="11906">
              <a:solidFill>
                <a:srgbClr val="111111"/>
              </a:solidFill>
              <a:prstDash val="solid"/>
            </a:ln>
          </p:spPr>
        </p:sp>
        <p:sp>
          <p:nvSpPr>
            <p:cNvPr id="468" name="Arrow-164-head"/>
            <p:cNvSpPr>
              <a:spLocks noGrp="1"/>
            </p:cNvSpPr>
            <p:nvPr/>
          </p:nvSpPr>
          <p:spPr>
            <a:xfrm>
              <a:off x="10748963" y="5412105"/>
              <a:ext cx="71438" cy="72390"/>
            </a:xfrm>
            <a:custGeom>
              <a:avLst/>
              <a:gdLst/>
              <a:ahLst/>
              <a:cxnLst/>
              <a:pathLst>
                <a:path w="71438" h="72390">
                  <a:moveTo>
                    <a:pt x="71438" y="36195"/>
                  </a:moveTo>
                  <a:lnTo>
                    <a:pt x="0" y="723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1111"/>
            </a:solidFill>
            <a:ln w="0">
              <a:noFill/>
              <a:prstDash val="solid"/>
            </a:ln>
          </p:spPr>
        </p:sp>
      </p:grpSp>
      <p:cxnSp>
        <p:nvCxnSpPr>
          <p:cNvPr id="469" name="直接箭头连接符 468"/>
          <p:cNvCxnSpPr/>
          <p:nvPr/>
        </p:nvCxnSpPr>
        <p:spPr>
          <a:xfrm rot="10800000" flipV="1">
            <a:off x="7647060" y="5712070"/>
            <a:ext cx="0" cy="21600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0" name="直接箭头连接符 469"/>
          <p:cNvCxnSpPr/>
          <p:nvPr/>
        </p:nvCxnSpPr>
        <p:spPr>
          <a:xfrm rot="5400000" flipV="1">
            <a:off x="6238630" y="6998090"/>
            <a:ext cx="0" cy="360000"/>
          </a:xfrm>
          <a:prstGeom prst="straightConnector1">
            <a:avLst/>
          </a:prstGeom>
          <a:ln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16" name="OM / Output Modulation panel"/>
          <p:cNvSpPr/>
          <p:nvPr/>
        </p:nvSpPr>
        <p:spPr>
          <a:xfrm>
            <a:off x="9144000" y="3931920"/>
            <a:ext cx="6611112" cy="3785615"/>
          </a:xfrm>
          <a:prstGeom prst="roundRect">
            <a:avLst>
              <a:gd name="adj" fmla="val 3500"/>
            </a:avLst>
          </a:prstGeom>
          <a:solidFill>
            <a:srgbClr val="F3FCF7"/>
          </a:solidFill>
          <a:ln w="8890">
            <a:solidFill>
              <a:srgbClr val="8AC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7" name="OM / Header band"/>
          <p:cNvSpPr/>
          <p:nvPr/>
        </p:nvSpPr>
        <p:spPr>
          <a:xfrm>
            <a:off x="9171432" y="3950208"/>
            <a:ext cx="6556248" cy="310896"/>
          </a:xfrm>
          <a:prstGeom prst="rect">
            <a:avLst/>
          </a:prstGeom>
          <a:solidFill>
            <a:srgbClr val="E1F2E9"/>
          </a:solidFill>
          <a:ln w="1270">
            <a:solidFill>
              <a:srgbClr val="E1F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8" name="OM / Panel title"/>
          <p:cNvSpPr txBox="1"/>
          <p:nvPr/>
        </p:nvSpPr>
        <p:spPr>
          <a:xfrm>
            <a:off x="9217152" y="3959352"/>
            <a:ext cx="6464808" cy="283464"/>
          </a:xfrm>
          <a:prstGeom prst="rect">
            <a:avLst/>
          </a:prstGeom>
          <a:noFill/>
        </p:spPr>
        <p:txBody>
          <a:bodyPr wrap="none" lIns="13716" rIns="13716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030A0"/>
                </a:solidFill>
                <a:latin typeface="Times New Roman"/>
              </a:rPr>
              <a:t>Output Modulation</a:t>
            </a:r>
          </a:p>
        </p:txBody>
      </p:sp>
      <p:sp>
        <p:nvSpPr>
          <p:cNvPr id="1019" name="OM / Interface"/>
          <p:cNvSpPr txBox="1"/>
          <p:nvPr/>
        </p:nvSpPr>
        <p:spPr>
          <a:xfrm>
            <a:off x="9299448" y="4306824"/>
            <a:ext cx="6263640" cy="246888"/>
          </a:xfrm>
          <a:prstGeom prst="rect">
            <a:avLst/>
          </a:prstGeom>
          <a:noFill/>
        </p:spPr>
        <p:txBody>
          <a:bodyPr wrap="none" lIns="13716" rIns="13716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17252B"/>
                </a:solidFill>
                <a:latin typeface="DejaVu Serif"/>
              </a:rPr>
              <a:t>(u</a:t>
            </a:r>
            <a:r>
              <a:rPr sz="949" baseline="-22000" b="0" i="1">
                <a:solidFill>
                  <a:srgbClr val="17252B"/>
                </a:solidFill>
                <a:latin typeface="DejaVu Serif"/>
              </a:rPr>
              <a:t>0</a:t>
            </a:r>
            <a:r>
              <a:rPr sz="1300" b="0" i="1">
                <a:solidFill>
                  <a:srgbClr val="17252B"/>
                </a:solidFill>
                <a:latin typeface="DejaVu Serif"/>
              </a:rPr>
              <a:t>, r̂, z</a:t>
            </a:r>
            <a:r>
              <a:rPr sz="949" baseline="-22000" b="0" i="1">
                <a:solidFill>
                  <a:srgbClr val="17252B"/>
                </a:solidFill>
                <a:latin typeface="DejaVu Serif"/>
              </a:rPr>
              <a:t>q</a:t>
            </a:r>
            <a:r>
              <a:rPr sz="1300" b="0" i="1">
                <a:solidFill>
                  <a:srgbClr val="17252B"/>
                </a:solidFill>
                <a:latin typeface="DejaVu Serif"/>
              </a:rPr>
              <a:t>, c</a:t>
            </a:r>
            <a:r>
              <a:rPr sz="949" baseline="-22000" b="0" i="1">
                <a:solidFill>
                  <a:srgbClr val="17252B"/>
                </a:solidFill>
                <a:latin typeface="DejaVu Serif"/>
              </a:rPr>
              <a:t>q</a:t>
            </a:r>
            <a:r>
              <a:rPr sz="1300" b="0" i="1">
                <a:solidFill>
                  <a:srgbClr val="17252B"/>
                </a:solidFill>
                <a:latin typeface="DejaVu Serif"/>
              </a:rPr>
              <a:t>) → Δz = a ⊙ d</a:t>
            </a:r>
          </a:p>
        </p:txBody>
      </p:sp>
      <p:sp>
        <p:nvSpPr>
          <p:cNvPr id="1020" name="OM / Direction branch boundary"/>
          <p:cNvSpPr/>
          <p:nvPr/>
        </p:nvSpPr>
        <p:spPr>
          <a:xfrm>
            <a:off x="9299448" y="4626864"/>
            <a:ext cx="5330952" cy="960120"/>
          </a:xfrm>
          <a:prstGeom prst="roundRect">
            <a:avLst>
              <a:gd name="adj" fmla="val 3500"/>
            </a:avLst>
          </a:prstGeom>
          <a:solidFill>
            <a:srgbClr val="F7FBFF"/>
          </a:solidFill>
          <a:ln w="8890">
            <a:solidFill>
              <a:srgbClr val="75B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1" name="OM / Direction branch title"/>
          <p:cNvSpPr txBox="1"/>
          <p:nvPr/>
        </p:nvSpPr>
        <p:spPr>
          <a:xfrm>
            <a:off x="9363456" y="4663440"/>
            <a:ext cx="5157216" cy="182880"/>
          </a:xfrm>
          <a:prstGeom prst="rect">
            <a:avLst/>
          </a:prstGeom>
          <a:noFill/>
        </p:spPr>
        <p:txBody>
          <a:bodyPr wrap="none" lIns="13716" rIns="13716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030A0"/>
                </a:solidFill>
                <a:latin typeface="Times New Roman"/>
              </a:rPr>
              <a:t>Direction Branch — Gated Angular Refinement</a:t>
            </a:r>
          </a:p>
        </p:txBody>
      </p:sp>
      <p:sp>
        <p:nvSpPr>
          <p:cNvPr id="1022" name="OM / Direction inputs"/>
          <p:cNvSpPr txBox="1"/>
          <p:nvPr/>
        </p:nvSpPr>
        <p:spPr>
          <a:xfrm>
            <a:off x="9400032" y="4983480"/>
            <a:ext cx="722376" cy="384048"/>
          </a:xfrm>
          <a:prstGeom prst="rect">
            <a:avLst/>
          </a:prstGeom>
          <a:noFill/>
        </p:spPr>
        <p:txBody>
          <a:bodyPr wrap="none" lIns="13716" rIns="13716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17252B"/>
                </a:solidFill>
                <a:latin typeface="DejaVu Serif"/>
              </a:rPr>
              <a:t>u</a:t>
            </a:r>
            <a:r>
              <a:rPr sz="876" baseline="-22000" b="0" i="1">
                <a:solidFill>
                  <a:srgbClr val="17252B"/>
                </a:solidFill>
                <a:latin typeface="DejaVu Serif"/>
              </a:rPr>
              <a:t>0</a:t>
            </a:r>
            <a:r>
              <a:rPr sz="1200" b="0" i="1">
                <a:solidFill>
                  <a:srgbClr val="17252B"/>
                </a:solidFill>
                <a:latin typeface="DejaVu Serif"/>
              </a:rPr>
              <a:t>, r̂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17252B"/>
                </a:solidFill>
                <a:latin typeface="DejaVu Serif"/>
              </a:rPr>
              <a:t>z</a:t>
            </a:r>
            <a:r>
              <a:rPr sz="876" baseline="-22000" b="0" i="1">
                <a:solidFill>
                  <a:srgbClr val="17252B"/>
                </a:solidFill>
                <a:latin typeface="DejaVu Serif"/>
              </a:rPr>
              <a:t>q</a:t>
            </a:r>
            <a:r>
              <a:rPr sz="1200" b="0" i="1">
                <a:solidFill>
                  <a:srgbClr val="17252B"/>
                </a:solidFill>
                <a:latin typeface="DejaVu Serif"/>
              </a:rPr>
              <a:t>, c</a:t>
            </a:r>
            <a:r>
              <a:rPr sz="876" baseline="-22000" b="0" i="1">
                <a:solidFill>
                  <a:srgbClr val="17252B"/>
                </a:solidFill>
                <a:latin typeface="DejaVu Serif"/>
              </a:rPr>
              <a:t>q</a:t>
            </a:r>
          </a:p>
        </p:txBody>
      </p:sp>
      <p:cxnSp>
        <p:nvCxnSpPr>
          <p:cNvPr id="1023" name="OM / Direction input segment 1"/>
          <p:cNvCxnSpPr/>
          <p:nvPr/>
        </p:nvCxnSpPr>
        <p:spPr>
          <a:xfrm>
            <a:off x="10140696" y="5166360"/>
            <a:ext cx="237744" cy="0"/>
          </a:xfrm>
          <a:prstGeom prst="line">
            <a:avLst/>
          </a:prstGeom>
          <a:ln w="10795">
            <a:solidFill>
              <a:srgbClr val="34495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4" name="OM / Direction conv"/>
          <p:cNvSpPr/>
          <p:nvPr/>
        </p:nvSpPr>
        <p:spPr>
          <a:xfrm>
            <a:off x="10378440" y="4910328"/>
            <a:ext cx="932688" cy="521207"/>
          </a:xfrm>
          <a:prstGeom prst="roundRect">
            <a:avLst>
              <a:gd name="adj" fmla="val 3500"/>
            </a:avLst>
          </a:prstGeom>
          <a:solidFill>
            <a:srgbClr val="DFEFFC"/>
          </a:solidFill>
          <a:ln w="8890">
            <a:solidFill>
              <a:srgbClr val="75B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5" name="OM / Direction conv label"/>
          <p:cNvSpPr txBox="1"/>
          <p:nvPr/>
        </p:nvSpPr>
        <p:spPr>
          <a:xfrm>
            <a:off x="10424160" y="4956048"/>
            <a:ext cx="841248" cy="411480"/>
          </a:xfrm>
          <a:prstGeom prst="rect">
            <a:avLst/>
          </a:prstGeom>
          <a:noFill/>
        </p:spPr>
        <p:txBody>
          <a:bodyPr wrap="none" lIns="13716" rIns="13716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252B"/>
                </a:solidFill>
                <a:latin typeface="Times New Roman"/>
              </a:rPr>
              <a:t>Conv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252B"/>
                </a:solidFill>
                <a:latin typeface="Times New Roman"/>
              </a:rPr>
              <a:t>Predictor</a:t>
            </a:r>
          </a:p>
        </p:txBody>
      </p:sp>
      <p:cxnSp>
        <p:nvCxnSpPr>
          <p:cNvPr id="1026" name="OM / Candidate direction segment 1"/>
          <p:cNvCxnSpPr/>
          <p:nvPr/>
        </p:nvCxnSpPr>
        <p:spPr>
          <a:xfrm>
            <a:off x="11311128" y="5166360"/>
            <a:ext cx="512064" cy="0"/>
          </a:xfrm>
          <a:prstGeom prst="line">
            <a:avLst/>
          </a:prstGeom>
          <a:ln w="10795">
            <a:solidFill>
              <a:srgbClr val="34495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7" name="OM / Candidate direction label"/>
          <p:cNvSpPr txBox="1"/>
          <p:nvPr/>
        </p:nvSpPr>
        <p:spPr>
          <a:xfrm>
            <a:off x="11329416" y="4910328"/>
            <a:ext cx="466344" cy="182880"/>
          </a:xfrm>
          <a:prstGeom prst="rect">
            <a:avLst/>
          </a:prstGeom>
          <a:noFill/>
        </p:spPr>
        <p:txBody>
          <a:bodyPr wrap="none" lIns="13716" rIns="13716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17252B"/>
                </a:solidFill>
                <a:latin typeface="DejaVu Serif"/>
              </a:rPr>
              <a:t>d</a:t>
            </a:r>
            <a:r>
              <a:rPr sz="802" baseline="-22000" b="0" i="1">
                <a:solidFill>
                  <a:srgbClr val="17252B"/>
                </a:solidFill>
                <a:latin typeface="DejaVu Serif"/>
              </a:rPr>
              <a:t>cand</a:t>
            </a:r>
          </a:p>
        </p:txBody>
      </p:sp>
      <p:sp>
        <p:nvSpPr>
          <p:cNvPr id="1028" name="OM / Gated refinement formula"/>
          <p:cNvSpPr/>
          <p:nvPr/>
        </p:nvSpPr>
        <p:spPr>
          <a:xfrm>
            <a:off x="11823192" y="4910328"/>
            <a:ext cx="2249424" cy="521207"/>
          </a:xfrm>
          <a:prstGeom prst="roundRect">
            <a:avLst>
              <a:gd name="adj" fmla="val 3500"/>
            </a:avLst>
          </a:prstGeom>
          <a:solidFill>
            <a:srgbClr val="DFEFFC"/>
          </a:solidFill>
          <a:ln w="8890">
            <a:solidFill>
              <a:srgbClr val="75B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9" name="OM / Gated refinement label"/>
          <p:cNvSpPr txBox="1"/>
          <p:nvPr/>
        </p:nvSpPr>
        <p:spPr>
          <a:xfrm>
            <a:off x="11868912" y="4965192"/>
            <a:ext cx="2157984" cy="393192"/>
          </a:xfrm>
          <a:prstGeom prst="rect">
            <a:avLst/>
          </a:prstGeom>
          <a:noFill/>
        </p:spPr>
        <p:txBody>
          <a:bodyPr wrap="none" lIns="13716" rIns="13716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52B"/>
                </a:solidFill>
                <a:latin typeface="Times New Roman"/>
              </a:rPr>
              <a:t>Gated refinement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7252B"/>
                </a:solidFill>
                <a:latin typeface="Times New Roman"/>
              </a:rPr>
              <a:t>+ channel normalization</a:t>
            </a:r>
          </a:p>
        </p:txBody>
      </p:sp>
      <p:cxnSp>
        <p:nvCxnSpPr>
          <p:cNvPr id="1030" name="OM / Unit direction output segment 1"/>
          <p:cNvCxnSpPr/>
          <p:nvPr/>
        </p:nvCxnSpPr>
        <p:spPr>
          <a:xfrm>
            <a:off x="14072616" y="5166360"/>
            <a:ext cx="1124712" cy="0"/>
          </a:xfrm>
          <a:prstGeom prst="line">
            <a:avLst/>
          </a:prstGeom>
          <a:ln w="10795">
            <a:solidFill>
              <a:srgbClr val="344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1" name="OM / Unit direction output segment 2"/>
          <p:cNvCxnSpPr/>
          <p:nvPr/>
        </p:nvCxnSpPr>
        <p:spPr>
          <a:xfrm>
            <a:off x="15197328" y="5166360"/>
            <a:ext cx="0" cy="1920240"/>
          </a:xfrm>
          <a:prstGeom prst="line">
            <a:avLst/>
          </a:prstGeom>
          <a:ln w="10795">
            <a:solidFill>
              <a:srgbClr val="34495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2" name="OM / Unit direction symbol"/>
          <p:cNvSpPr txBox="1"/>
          <p:nvPr/>
        </p:nvSpPr>
        <p:spPr>
          <a:xfrm>
            <a:off x="14145768" y="4937760"/>
            <a:ext cx="265176" cy="201168"/>
          </a:xfrm>
          <a:prstGeom prst="rect">
            <a:avLst/>
          </a:prstGeom>
          <a:noFill/>
        </p:spPr>
        <p:txBody>
          <a:bodyPr wrap="none" lIns="13716" rIns="13716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17252B"/>
                </a:solidFill>
                <a:latin typeface="DejaVu Serif"/>
              </a:rPr>
              <a:t>d</a:t>
            </a:r>
          </a:p>
        </p:txBody>
      </p:sp>
      <p:sp>
        <p:nvSpPr>
          <p:cNvPr id="1033" name="OM / Gain branch boundary"/>
          <p:cNvSpPr/>
          <p:nvPr/>
        </p:nvSpPr>
        <p:spPr>
          <a:xfrm>
            <a:off x="9299448" y="5696712"/>
            <a:ext cx="5330952" cy="950976"/>
          </a:xfrm>
          <a:prstGeom prst="roundRect">
            <a:avLst>
              <a:gd name="adj" fmla="val 3500"/>
            </a:avLst>
          </a:prstGeom>
          <a:solidFill>
            <a:srgbClr val="FAFDFC"/>
          </a:solidFill>
          <a:ln w="8890">
            <a:solidFill>
              <a:srgbClr val="8AC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4" name="OM / Gain branch title"/>
          <p:cNvSpPr txBox="1"/>
          <p:nvPr/>
        </p:nvSpPr>
        <p:spPr>
          <a:xfrm>
            <a:off x="9363456" y="5724144"/>
            <a:ext cx="5157216" cy="182880"/>
          </a:xfrm>
          <a:prstGeom prst="rect">
            <a:avLst/>
          </a:prstGeom>
          <a:noFill/>
        </p:spPr>
        <p:txBody>
          <a:bodyPr wrap="none" lIns="13716" rIns="13716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030A0"/>
                </a:solidFill>
                <a:latin typeface="Times New Roman"/>
              </a:rPr>
              <a:t>Gain Branch — Local Magnitude Modulation</a:t>
            </a:r>
          </a:p>
        </p:txBody>
      </p:sp>
      <p:sp>
        <p:nvSpPr>
          <p:cNvPr id="1035" name="OM / Gain inputs"/>
          <p:cNvSpPr txBox="1"/>
          <p:nvPr/>
        </p:nvSpPr>
        <p:spPr>
          <a:xfrm>
            <a:off x="9390888" y="6007608"/>
            <a:ext cx="1078992" cy="402336"/>
          </a:xfrm>
          <a:prstGeom prst="rect">
            <a:avLst/>
          </a:prstGeom>
          <a:noFill/>
        </p:spPr>
        <p:txBody>
          <a:bodyPr wrap="none" lIns="13716" rIns="13716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17252B"/>
                </a:solidFill>
                <a:latin typeface="DejaVu Serif"/>
              </a:rPr>
              <a:t>ctx(z</a:t>
            </a:r>
            <a:r>
              <a:rPr sz="802" baseline="-22000" b="0" i="1">
                <a:solidFill>
                  <a:srgbClr val="17252B"/>
                </a:solidFill>
                <a:latin typeface="DejaVu Serif"/>
              </a:rPr>
              <a:t>q</a:t>
            </a:r>
            <a:r>
              <a:rPr sz="1100" b="0" i="1">
                <a:solidFill>
                  <a:srgbClr val="17252B"/>
                </a:solidFill>
                <a:latin typeface="DejaVu Serif"/>
              </a:rPr>
              <a:t>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17252B"/>
                </a:solidFill>
                <a:latin typeface="DejaVu Serif"/>
              </a:rPr>
              <a:t>log r̂, q, I/P</a:t>
            </a:r>
          </a:p>
        </p:txBody>
      </p:sp>
      <p:cxnSp>
        <p:nvCxnSpPr>
          <p:cNvPr id="1036" name="OM / Gain input segment 1"/>
          <p:cNvCxnSpPr/>
          <p:nvPr/>
        </p:nvCxnSpPr>
        <p:spPr>
          <a:xfrm>
            <a:off x="10488168" y="6217920"/>
            <a:ext cx="164592" cy="0"/>
          </a:xfrm>
          <a:prstGeom prst="line">
            <a:avLst/>
          </a:prstGeom>
          <a:ln w="10795">
            <a:solidFill>
              <a:srgbClr val="34495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7" name="OM / Gain conv"/>
          <p:cNvSpPr/>
          <p:nvPr/>
        </p:nvSpPr>
        <p:spPr>
          <a:xfrm>
            <a:off x="10652760" y="5961888"/>
            <a:ext cx="932688" cy="521207"/>
          </a:xfrm>
          <a:prstGeom prst="roundRect">
            <a:avLst>
              <a:gd name="adj" fmla="val 3500"/>
            </a:avLst>
          </a:prstGeom>
          <a:solidFill>
            <a:srgbClr val="E6F5EC"/>
          </a:solidFill>
          <a:ln w="8890">
            <a:solidFill>
              <a:srgbClr val="8AC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8" name="OM / Gain conv label"/>
          <p:cNvSpPr txBox="1"/>
          <p:nvPr/>
        </p:nvSpPr>
        <p:spPr>
          <a:xfrm>
            <a:off x="10698480" y="6016752"/>
            <a:ext cx="841248" cy="393192"/>
          </a:xfrm>
          <a:prstGeom prst="rect">
            <a:avLst/>
          </a:prstGeom>
          <a:noFill/>
        </p:spPr>
        <p:txBody>
          <a:bodyPr wrap="none" lIns="13716" rIns="13716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252B"/>
                </a:solidFill>
                <a:latin typeface="Times New Roman"/>
              </a:rPr>
              <a:t>Conv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7252B"/>
                </a:solidFill>
                <a:latin typeface="Times New Roman"/>
              </a:rPr>
              <a:t>Predictor</a:t>
            </a:r>
          </a:p>
        </p:txBody>
      </p:sp>
      <p:cxnSp>
        <p:nvCxnSpPr>
          <p:cNvPr id="1039" name="OM / Gain logit segment 1"/>
          <p:cNvCxnSpPr/>
          <p:nvPr/>
        </p:nvCxnSpPr>
        <p:spPr>
          <a:xfrm>
            <a:off x="11585448" y="6217920"/>
            <a:ext cx="374904" cy="0"/>
          </a:xfrm>
          <a:prstGeom prst="line">
            <a:avLst/>
          </a:prstGeom>
          <a:ln w="10795">
            <a:solidFill>
              <a:srgbClr val="34495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0" name="OM / Gain logit label"/>
          <p:cNvSpPr txBox="1"/>
          <p:nvPr/>
        </p:nvSpPr>
        <p:spPr>
          <a:xfrm>
            <a:off x="11686032" y="5971032"/>
            <a:ext cx="201168" cy="182880"/>
          </a:xfrm>
          <a:prstGeom prst="rect">
            <a:avLst/>
          </a:prstGeom>
          <a:noFill/>
        </p:spPr>
        <p:txBody>
          <a:bodyPr wrap="none" lIns="13716" rIns="13716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17252B"/>
                </a:solidFill>
                <a:latin typeface="DejaVu Serif"/>
              </a:rPr>
              <a:t>ℓ</a:t>
            </a:r>
          </a:p>
        </p:txBody>
      </p:sp>
      <p:sp>
        <p:nvSpPr>
          <p:cNvPr id="1041" name="OM / Bound and resize"/>
          <p:cNvSpPr/>
          <p:nvPr/>
        </p:nvSpPr>
        <p:spPr>
          <a:xfrm>
            <a:off x="11960352" y="5961888"/>
            <a:ext cx="2084831" cy="521207"/>
          </a:xfrm>
          <a:prstGeom prst="roundRect">
            <a:avLst>
              <a:gd name="adj" fmla="val 3500"/>
            </a:avLst>
          </a:prstGeom>
          <a:solidFill>
            <a:srgbClr val="E6F5EC"/>
          </a:solidFill>
          <a:ln w="8890">
            <a:solidFill>
              <a:srgbClr val="8ACB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2" name="OM / Bounded gain equation"/>
          <p:cNvSpPr txBox="1"/>
          <p:nvPr/>
        </p:nvSpPr>
        <p:spPr>
          <a:xfrm>
            <a:off x="12006072" y="6025896"/>
            <a:ext cx="1993392" cy="201168"/>
          </a:xfrm>
          <a:prstGeom prst="rect">
            <a:avLst/>
          </a:prstGeom>
          <a:noFill/>
        </p:spPr>
        <p:txBody>
          <a:bodyPr wrap="none" lIns="13716" rIns="13716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1">
                <a:solidFill>
                  <a:srgbClr val="17252B"/>
                </a:solidFill>
                <a:latin typeface="DejaVu Serif"/>
              </a:rPr>
              <a:t>m = exp(U[ln 2 · tanh ℓ])</a:t>
            </a:r>
          </a:p>
        </p:txBody>
      </p:sp>
      <p:sp>
        <p:nvSpPr>
          <p:cNvPr id="1043" name="OM / Bounded gain resize note"/>
          <p:cNvSpPr txBox="1"/>
          <p:nvPr/>
        </p:nvSpPr>
        <p:spPr>
          <a:xfrm>
            <a:off x="12024360" y="6245352"/>
            <a:ext cx="1947672" cy="155448"/>
          </a:xfrm>
          <a:prstGeom prst="rect">
            <a:avLst/>
          </a:prstGeom>
          <a:noFill/>
        </p:spPr>
        <p:txBody>
          <a:bodyPr wrap="none" lIns="13716" rIns="13716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7252B"/>
                </a:solidFill>
                <a:latin typeface="Times New Roman"/>
              </a:rPr>
              <a:t>U: resize to latent grid</a:t>
            </a:r>
          </a:p>
        </p:txBody>
      </p:sp>
      <p:cxnSp>
        <p:nvCxnSpPr>
          <p:cNvPr id="1044" name="OM / Gain map to multiply segment 1"/>
          <p:cNvCxnSpPr/>
          <p:nvPr/>
        </p:nvCxnSpPr>
        <p:spPr>
          <a:xfrm>
            <a:off x="14045184" y="6217920"/>
            <a:ext cx="493776" cy="0"/>
          </a:xfrm>
          <a:prstGeom prst="line">
            <a:avLst/>
          </a:prstGeom>
          <a:ln w="10795">
            <a:solidFill>
              <a:srgbClr val="344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5" name="OM / Gain map to multiply segment 2"/>
          <p:cNvCxnSpPr/>
          <p:nvPr/>
        </p:nvCxnSpPr>
        <p:spPr>
          <a:xfrm>
            <a:off x="14538960" y="6217920"/>
            <a:ext cx="0" cy="868680"/>
          </a:xfrm>
          <a:prstGeom prst="line">
            <a:avLst/>
          </a:prstGeom>
          <a:ln w="10795">
            <a:solidFill>
              <a:srgbClr val="34495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6" name="OM / Gain map label"/>
          <p:cNvSpPr txBox="1"/>
          <p:nvPr/>
        </p:nvSpPr>
        <p:spPr>
          <a:xfrm>
            <a:off x="14127480" y="5980176"/>
            <a:ext cx="237744" cy="192024"/>
          </a:xfrm>
          <a:prstGeom prst="rect">
            <a:avLst/>
          </a:prstGeom>
          <a:noFill/>
        </p:spPr>
        <p:txBody>
          <a:bodyPr wrap="none" lIns="13716" rIns="13716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17252B"/>
                </a:solidFill>
                <a:latin typeface="DejaVu Serif"/>
              </a:rPr>
              <a:t>m</a:t>
            </a:r>
          </a:p>
        </p:txBody>
      </p:sp>
      <p:sp>
        <p:nvSpPr>
          <p:cNvPr id="1047" name="OM / Norm branch boundary"/>
          <p:cNvSpPr/>
          <p:nvPr/>
        </p:nvSpPr>
        <p:spPr>
          <a:xfrm>
            <a:off x="9299448" y="6766560"/>
            <a:ext cx="4590288" cy="786384"/>
          </a:xfrm>
          <a:prstGeom prst="roundRect">
            <a:avLst>
              <a:gd name="adj" fmla="val 3500"/>
            </a:avLst>
          </a:prstGeom>
          <a:solidFill>
            <a:srgbClr val="F7FBFF"/>
          </a:solidFill>
          <a:ln w="8890">
            <a:solidFill>
              <a:srgbClr val="75B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OM / Norm branch title"/>
          <p:cNvSpPr txBox="1"/>
          <p:nvPr/>
        </p:nvSpPr>
        <p:spPr>
          <a:xfrm>
            <a:off x="9363456" y="6803136"/>
            <a:ext cx="4425696" cy="182880"/>
          </a:xfrm>
          <a:prstGeom prst="rect">
            <a:avLst/>
          </a:prstGeom>
          <a:noFill/>
        </p:spPr>
        <p:txBody>
          <a:bodyPr wrap="none" lIns="13716" rIns="13716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030A0"/>
                </a:solidFill>
                <a:latin typeface="Times New Roman"/>
              </a:rPr>
              <a:t>Norm Branch — Local Update Magnitude</a:t>
            </a:r>
          </a:p>
        </p:txBody>
      </p:sp>
      <p:sp>
        <p:nvSpPr>
          <p:cNvPr id="1049" name="OM / Norm input"/>
          <p:cNvSpPr txBox="1"/>
          <p:nvPr/>
        </p:nvSpPr>
        <p:spPr>
          <a:xfrm>
            <a:off x="9546336" y="7077456"/>
            <a:ext cx="365760" cy="256032"/>
          </a:xfrm>
          <a:prstGeom prst="rect">
            <a:avLst/>
          </a:prstGeom>
          <a:noFill/>
        </p:spPr>
        <p:txBody>
          <a:bodyPr wrap="none" lIns="13716" rIns="13716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17252B"/>
                </a:solidFill>
                <a:latin typeface="DejaVu Serif"/>
              </a:rPr>
              <a:t>u</a:t>
            </a:r>
            <a:r>
              <a:rPr sz="949" baseline="-22000" b="0" i="1">
                <a:solidFill>
                  <a:srgbClr val="17252B"/>
                </a:solidFill>
                <a:latin typeface="DejaVu Serif"/>
              </a:rPr>
              <a:t>0</a:t>
            </a:r>
          </a:p>
        </p:txBody>
      </p:sp>
      <p:cxnSp>
        <p:nvCxnSpPr>
          <p:cNvPr id="1050" name="OM / Norm input flow segment 1"/>
          <p:cNvCxnSpPr/>
          <p:nvPr/>
        </p:nvCxnSpPr>
        <p:spPr>
          <a:xfrm>
            <a:off x="9948672" y="7205472"/>
            <a:ext cx="384048" cy="0"/>
          </a:xfrm>
          <a:prstGeom prst="line">
            <a:avLst/>
          </a:prstGeom>
          <a:ln w="10795">
            <a:solidFill>
              <a:srgbClr val="34495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1" name="OM / Channel norm"/>
          <p:cNvSpPr/>
          <p:nvPr/>
        </p:nvSpPr>
        <p:spPr>
          <a:xfrm>
            <a:off x="10332720" y="7040880"/>
            <a:ext cx="2139696" cy="329184"/>
          </a:xfrm>
          <a:prstGeom prst="roundRect">
            <a:avLst>
              <a:gd name="adj" fmla="val 3500"/>
            </a:avLst>
          </a:prstGeom>
          <a:solidFill>
            <a:srgbClr val="DFEFFC"/>
          </a:solidFill>
          <a:ln w="8890">
            <a:solidFill>
              <a:srgbClr val="75B9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OM / Channel norm equation"/>
          <p:cNvSpPr txBox="1"/>
          <p:nvPr/>
        </p:nvSpPr>
        <p:spPr>
          <a:xfrm>
            <a:off x="10387584" y="7077456"/>
            <a:ext cx="2029968" cy="237744"/>
          </a:xfrm>
          <a:prstGeom prst="rect">
            <a:avLst/>
          </a:prstGeom>
          <a:noFill/>
        </p:spPr>
        <p:txBody>
          <a:bodyPr wrap="none" lIns="13716" rIns="13716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17252B"/>
                </a:solidFill>
                <a:latin typeface="DejaVu Serif"/>
              </a:rPr>
              <a:t>n = ‖u</a:t>
            </a:r>
            <a:r>
              <a:rPr sz="876" baseline="-22000" b="0" i="1">
                <a:solidFill>
                  <a:srgbClr val="17252B"/>
                </a:solidFill>
                <a:latin typeface="DejaVu Serif"/>
              </a:rPr>
              <a:t>0</a:t>
            </a:r>
            <a:r>
              <a:rPr sz="1200" b="0" i="1">
                <a:solidFill>
                  <a:srgbClr val="17252B"/>
                </a:solidFill>
                <a:latin typeface="DejaVu Serif"/>
              </a:rPr>
              <a:t>‖</a:t>
            </a:r>
            <a:r>
              <a:rPr sz="876" baseline="-22000" b="0" i="1">
                <a:solidFill>
                  <a:srgbClr val="17252B"/>
                </a:solidFill>
                <a:latin typeface="DejaVu Serif"/>
              </a:rPr>
              <a:t>2,ch</a:t>
            </a:r>
          </a:p>
        </p:txBody>
      </p:sp>
      <p:cxnSp>
        <p:nvCxnSpPr>
          <p:cNvPr id="1053" name="OM / Norm map to multiply segment 1"/>
          <p:cNvCxnSpPr/>
          <p:nvPr/>
        </p:nvCxnSpPr>
        <p:spPr>
          <a:xfrm>
            <a:off x="12472416" y="7205472"/>
            <a:ext cx="1947672" cy="0"/>
          </a:xfrm>
          <a:prstGeom prst="line">
            <a:avLst/>
          </a:prstGeom>
          <a:ln w="10795">
            <a:solidFill>
              <a:srgbClr val="34495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4" name="OM / Norm output label"/>
          <p:cNvSpPr txBox="1"/>
          <p:nvPr/>
        </p:nvSpPr>
        <p:spPr>
          <a:xfrm>
            <a:off x="13139928" y="6995160"/>
            <a:ext cx="274320" cy="182880"/>
          </a:xfrm>
          <a:prstGeom prst="rect">
            <a:avLst/>
          </a:prstGeom>
          <a:noFill/>
        </p:spPr>
        <p:txBody>
          <a:bodyPr wrap="none" lIns="13716" rIns="13716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17252B"/>
                </a:solidFill>
                <a:latin typeface="DejaVu Serif"/>
              </a:rPr>
              <a:t>n</a:t>
            </a:r>
          </a:p>
        </p:txBody>
      </p:sp>
      <p:sp>
        <p:nvSpPr>
          <p:cNvPr id="1055" name="OM / Magnitude multiplication"/>
          <p:cNvSpPr/>
          <p:nvPr/>
        </p:nvSpPr>
        <p:spPr>
          <a:xfrm>
            <a:off x="14420088" y="7086600"/>
            <a:ext cx="237744" cy="23774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344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6" name="OM / Magnitude multiplication symbol"/>
          <p:cNvSpPr txBox="1"/>
          <p:nvPr/>
        </p:nvSpPr>
        <p:spPr>
          <a:xfrm>
            <a:off x="14420088" y="7086600"/>
            <a:ext cx="237744" cy="237744"/>
          </a:xfrm>
          <a:prstGeom prst="rect">
            <a:avLst/>
          </a:prstGeom>
          <a:noFill/>
        </p:spPr>
        <p:txBody>
          <a:bodyPr wrap="none" lIns="13716" rIns="13716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52B"/>
                </a:solidFill>
                <a:latin typeface="Times New Roman"/>
              </a:rPr>
              <a:t>×</a:t>
            </a:r>
          </a:p>
        </p:txBody>
      </p:sp>
      <p:cxnSp>
        <p:nvCxnSpPr>
          <p:cNvPr id="1057" name="OM / Magnitude to final product segment 1"/>
          <p:cNvCxnSpPr/>
          <p:nvPr/>
        </p:nvCxnSpPr>
        <p:spPr>
          <a:xfrm>
            <a:off x="14657832" y="7205472"/>
            <a:ext cx="420623" cy="0"/>
          </a:xfrm>
          <a:prstGeom prst="line">
            <a:avLst/>
          </a:prstGeom>
          <a:ln w="10795">
            <a:solidFill>
              <a:srgbClr val="34495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8" name="OM / Magnitude output"/>
          <p:cNvSpPr txBox="1"/>
          <p:nvPr/>
        </p:nvSpPr>
        <p:spPr>
          <a:xfrm>
            <a:off x="14758416" y="6967728"/>
            <a:ext cx="228600" cy="192024"/>
          </a:xfrm>
          <a:prstGeom prst="rect">
            <a:avLst/>
          </a:prstGeom>
          <a:noFill/>
        </p:spPr>
        <p:txBody>
          <a:bodyPr wrap="none" lIns="13716" rIns="13716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17252B"/>
                </a:solidFill>
                <a:latin typeface="DejaVu Serif"/>
              </a:rPr>
              <a:t>a</a:t>
            </a:r>
          </a:p>
        </p:txBody>
      </p:sp>
      <p:sp>
        <p:nvSpPr>
          <p:cNvPr id="1059" name="OM / Final direction multiplication"/>
          <p:cNvSpPr/>
          <p:nvPr/>
        </p:nvSpPr>
        <p:spPr>
          <a:xfrm>
            <a:off x="15078456" y="7086600"/>
            <a:ext cx="237744" cy="23774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3449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OM / Final direction multiplication symbol"/>
          <p:cNvSpPr txBox="1"/>
          <p:nvPr/>
        </p:nvSpPr>
        <p:spPr>
          <a:xfrm>
            <a:off x="15078456" y="7086600"/>
            <a:ext cx="237744" cy="237744"/>
          </a:xfrm>
          <a:prstGeom prst="rect">
            <a:avLst/>
          </a:prstGeom>
          <a:noFill/>
        </p:spPr>
        <p:txBody>
          <a:bodyPr wrap="none" lIns="13716" rIns="13716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7252B"/>
                </a:solidFill>
                <a:latin typeface="Times New Roman"/>
              </a:rPr>
              <a:t>×</a:t>
            </a:r>
          </a:p>
        </p:txBody>
      </p:sp>
      <p:cxnSp>
        <p:nvCxnSpPr>
          <p:cNvPr id="1061" name="OM / Correction output segment 1"/>
          <p:cNvCxnSpPr/>
          <p:nvPr/>
        </p:nvCxnSpPr>
        <p:spPr>
          <a:xfrm>
            <a:off x="15316200" y="7205472"/>
            <a:ext cx="256032" cy="0"/>
          </a:xfrm>
          <a:prstGeom prst="line">
            <a:avLst/>
          </a:prstGeom>
          <a:ln w="10795">
            <a:solidFill>
              <a:srgbClr val="34495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2" name="OM / Correction label"/>
          <p:cNvSpPr txBox="1"/>
          <p:nvPr/>
        </p:nvSpPr>
        <p:spPr>
          <a:xfrm>
            <a:off x="15352776" y="6931152"/>
            <a:ext cx="320040" cy="228600"/>
          </a:xfrm>
          <a:prstGeom prst="rect">
            <a:avLst/>
          </a:prstGeom>
          <a:noFill/>
        </p:spPr>
        <p:txBody>
          <a:bodyPr wrap="none" lIns="13716" rIns="13716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17252B"/>
                </a:solidFill>
                <a:latin typeface="DejaVu Serif"/>
              </a:rPr>
              <a:t>Δz</a:t>
            </a:r>
          </a:p>
        </p:txBody>
      </p:sp>
      <p:sp>
        <p:nvSpPr>
          <p:cNvPr id="1063" name="OM / Endpoint summary"/>
          <p:cNvSpPr txBox="1"/>
          <p:nvPr/>
        </p:nvSpPr>
        <p:spPr>
          <a:xfrm>
            <a:off x="13917168" y="7424927"/>
            <a:ext cx="1691640" cy="182880"/>
          </a:xfrm>
          <a:prstGeom prst="rect">
            <a:avLst/>
          </a:prstGeom>
          <a:noFill/>
        </p:spPr>
        <p:txBody>
          <a:bodyPr wrap="none" lIns="13716" rIns="13716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17252B"/>
                </a:solidFill>
                <a:latin typeface="DejaVu Serif"/>
              </a:rPr>
              <a:t>a = n ⊙ m     Δz = a ⊙ d</a:t>
            </a:r>
          </a:p>
        </p:txBody>
      </p:sp>
      <p:sp>
        <p:nvSpPr>
          <p:cNvPr id="1064" name="OM / Direction definition"/>
          <p:cNvSpPr txBox="1"/>
          <p:nvPr/>
        </p:nvSpPr>
        <p:spPr>
          <a:xfrm>
            <a:off x="9189720" y="7799831"/>
            <a:ext cx="6519672" cy="219456"/>
          </a:xfrm>
          <a:prstGeom prst="rect">
            <a:avLst/>
          </a:prstGeom>
          <a:noFill/>
        </p:spPr>
        <p:txBody>
          <a:bodyPr wrap="none" lIns="13716" rIns="13716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 i="1">
                <a:solidFill>
                  <a:srgbClr val="17252B"/>
                </a:solidFill>
                <a:latin typeface="DejaVu Serif"/>
              </a:rPr>
              <a:t>e</a:t>
            </a:r>
            <a:r>
              <a:rPr sz="861" baseline="-22000" b="0" i="1">
                <a:solidFill>
                  <a:srgbClr val="17252B"/>
                </a:solidFill>
                <a:latin typeface="DejaVu Serif"/>
              </a:rPr>
              <a:t>0</a:t>
            </a:r>
            <a:r>
              <a:rPr sz="1180" b="0" i="1">
                <a:solidFill>
                  <a:srgbClr val="17252B"/>
                </a:solidFill>
                <a:latin typeface="DejaVu Serif"/>
              </a:rPr>
              <a:t> = Normalize(u</a:t>
            </a:r>
            <a:r>
              <a:rPr sz="861" baseline="-22000" b="0" i="1">
                <a:solidFill>
                  <a:srgbClr val="17252B"/>
                </a:solidFill>
                <a:latin typeface="DejaVu Serif"/>
              </a:rPr>
              <a:t>0</a:t>
            </a:r>
            <a:r>
              <a:rPr sz="1180" b="0" i="1">
                <a:solidFill>
                  <a:srgbClr val="17252B"/>
                </a:solidFill>
                <a:latin typeface="DejaVu Serif"/>
              </a:rPr>
              <a:t>);   d = Normalize[e</a:t>
            </a:r>
            <a:r>
              <a:rPr sz="861" baseline="-22000" b="0" i="1">
                <a:solidFill>
                  <a:srgbClr val="17252B"/>
                </a:solidFill>
                <a:latin typeface="DejaVu Serif"/>
              </a:rPr>
              <a:t>0</a:t>
            </a:r>
            <a:r>
              <a:rPr sz="1180" b="0" i="1">
                <a:solidFill>
                  <a:srgbClr val="17252B"/>
                </a:solidFill>
                <a:latin typeface="DejaVu Serif"/>
              </a:rPr>
              <a:t> + β</a:t>
            </a:r>
            <a:r>
              <a:rPr sz="861" baseline="-22000" b="0" i="1">
                <a:solidFill>
                  <a:srgbClr val="17252B"/>
                </a:solidFill>
                <a:latin typeface="DejaVu Serif"/>
              </a:rPr>
              <a:t>I/P</a:t>
            </a:r>
            <a:r>
              <a:rPr sz="1180" b="0" i="1">
                <a:solidFill>
                  <a:srgbClr val="17252B"/>
                </a:solidFill>
                <a:latin typeface="DejaVu Serif"/>
              </a:rPr>
              <a:t>(d</a:t>
            </a:r>
            <a:r>
              <a:rPr sz="861" baseline="-22000" b="0" i="1">
                <a:solidFill>
                  <a:srgbClr val="17252B"/>
                </a:solidFill>
                <a:latin typeface="DejaVu Serif"/>
              </a:rPr>
              <a:t>cand</a:t>
            </a:r>
            <a:r>
              <a:rPr sz="1180" b="0" i="1">
                <a:solidFill>
                  <a:srgbClr val="17252B"/>
                </a:solidFill>
                <a:latin typeface="DejaVu Serif"/>
              </a:rPr>
              <a:t> − e</a:t>
            </a:r>
            <a:r>
              <a:rPr sz="861" baseline="-22000" b="0" i="1">
                <a:solidFill>
                  <a:srgbClr val="17252B"/>
                </a:solidFill>
                <a:latin typeface="DejaVu Serif"/>
              </a:rPr>
              <a:t>0</a:t>
            </a:r>
            <a:r>
              <a:rPr sz="1180" b="0" i="1">
                <a:solidFill>
                  <a:srgbClr val="17252B"/>
                </a:solidFill>
                <a:latin typeface="DejaVu Serif"/>
              </a:rPr>
              <a:t>)]</a:t>
            </a:r>
          </a:p>
        </p:txBody>
      </p:sp>
      <p:sp>
        <p:nvSpPr>
          <p:cNvPr id="1065" name="OM / Tensor meaning"/>
          <p:cNvSpPr txBox="1"/>
          <p:nvPr/>
        </p:nvSpPr>
        <p:spPr>
          <a:xfrm>
            <a:off x="9189720" y="8037575"/>
            <a:ext cx="6519672" cy="210312"/>
          </a:xfrm>
          <a:prstGeom prst="rect">
            <a:avLst/>
          </a:prstGeom>
          <a:noFill/>
        </p:spPr>
        <p:txBody>
          <a:bodyPr wrap="none" lIns="13716" rIns="13716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17252B"/>
                </a:solidFill>
                <a:latin typeface="DejaVu Serif"/>
              </a:rPr>
              <a:t>d: 48-D unit direction per token     n, m, a: scalar maps     ẑ = z</a:t>
            </a:r>
            <a:r>
              <a:rPr sz="788" baseline="-22000" b="0" i="0">
                <a:solidFill>
                  <a:srgbClr val="17252B"/>
                </a:solidFill>
                <a:latin typeface="DejaVu Serif"/>
              </a:rPr>
              <a:t>q</a:t>
            </a:r>
            <a:r>
              <a:rPr sz="1080" b="0" i="0">
                <a:solidFill>
                  <a:srgbClr val="17252B"/>
                </a:solidFill>
                <a:latin typeface="DejaVu Serif"/>
              </a:rPr>
              <a:t> + Δz</a:t>
            </a:r>
          </a:p>
        </p:txBody>
      </p:sp>
      <p:cxnSp>
        <p:nvCxnSpPr>
          <p:cNvPr id="1066" name="OM / Base update input from neighbouring module segment 1"/>
          <p:cNvCxnSpPr/>
          <p:nvPr/>
        </p:nvCxnSpPr>
        <p:spPr>
          <a:xfrm>
            <a:off x="8796528" y="7205472"/>
            <a:ext cx="502920" cy="0"/>
          </a:xfrm>
          <a:prstGeom prst="line">
            <a:avLst/>
          </a:prstGeom>
          <a:ln w="10795">
            <a:solidFill>
              <a:srgbClr val="34495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1483</Words>
  <Application>WPS 演示</Application>
  <PresentationFormat>Converted Presentation</PresentationFormat>
  <Paragraphs>400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Nimbus Roman</vt:lpstr>
      <vt:lpstr>Segoe Print</vt:lpstr>
      <vt:lpstr>微软雅黑</vt:lpstr>
      <vt:lpstr>Arial Unicode MS</vt:lpstr>
      <vt:lpstr>Calibri</vt:lpstr>
      <vt:lpstr>Nimbus Roman</vt:lpstr>
      <vt:lpstr>Weiss Std Roman</vt:lpstr>
      <vt:lpstr>Times New Roman</vt:lpstr>
      <vt:lpstr>Arial</vt:lpstr>
      <vt:lpstr>Cambria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王麒哲</cp:lastModifiedBy>
  <cp:revision>1</cp:revision>
  <dcterms:created xsi:type="dcterms:W3CDTF">2026-09-24T17:13:16Z</dcterms:created>
  <dcterms:modified xsi:type="dcterms:W3CDTF">2026-09-24T17:13:16Z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DF709FA0D23E49BB89B5CE9544476E48_12</vt:lpwstr>
  </property>
</Properties>
</file>